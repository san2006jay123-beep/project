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72036"/>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9966960" cy="4846320"/>
          </a:xfrm>
          <a:prstGeom prst="rect">
            <a:avLst/>
          </a:prstGeom>
          <a:noFill/>
        </p:spPr>
        <p:txBody>
          <a:bodyPr wrap="square">
            <a:spAutoFit/>
          </a:bodyPr>
          <a:lstStyle/>
          <a:p>
            <a:r>
              <a:rPr sz="1100" b="1">
                <a:solidFill>
                  <a:srgbClr val="06B6D4"/>
                </a:solidFill>
                <a:latin typeface="Segoe UI"/>
              </a:rPr>
              <a:t>🏛️ PROJECT OVERVIEW &amp; TARGET DOMAIN</a:t>
            </a:r>
          </a:p>
          <a:p>
            <a:pPr>
              <a:spcBef>
                <a:spcPts val="800"/>
              </a:spcBef>
            </a:pPr>
            <a:r>
              <a:rPr sz="2200" b="1">
                <a:solidFill>
                  <a:srgbClr val="FFFFFF"/>
                </a:solidFill>
                <a:latin typeface="Segoe UI"/>
              </a:rPr>
              <a:t>ClassOS: AI Smart Attendance, Student Behavior Recognition &amp; Dual-Layer IoT Energy Management</a:t>
            </a:r>
          </a:p>
          <a:p>
            <a:pPr>
              <a:spcBef>
                <a:spcPts val="1400"/>
              </a:spcBef>
            </a:pPr>
            <a:r>
              <a:rPr sz="1300" b="1">
                <a:solidFill>
                  <a:srgbClr val="10B981"/>
                </a:solidFill>
                <a:latin typeface="Segoe UI"/>
              </a:rPr>
              <a:t>🎯 Primary Industry Sectors:</a:t>
            </a:r>
          </a:p>
          <a:p>
            <a:pPr>
              <a:spcBef>
                <a:spcPts val="500"/>
              </a:spcBef>
            </a:pPr>
            <a:r>
              <a:rPr sz="1100" b="1">
                <a:solidFill>
                  <a:srgbClr val="FFFFFF"/>
                </a:solidFill>
                <a:latin typeface="Segoe UI"/>
              </a:rPr>
              <a:t>  • 🎓 Higher Education &amp; Universities — </a:t>
            </a:r>
            <a:r>
              <a:rPr sz="1050">
                <a:solidFill>
                  <a:srgbClr val="CBD5E1"/>
                </a:solidFill>
                <a:latin typeface="Segoe UI"/>
              </a:rPr>
              <a:t>Automating roll calls in 100+ student lecture halls and eliminating proxy attendance.</a:t>
            </a:r>
          </a:p>
          <a:p>
            <a:pPr>
              <a:spcBef>
                <a:spcPts val="500"/>
              </a:spcBef>
            </a:pPr>
            <a:r>
              <a:rPr sz="1100" b="1">
                <a:solidFill>
                  <a:srgbClr val="FFFFFF"/>
                </a:solidFill>
                <a:latin typeface="Segoe UI"/>
              </a:rPr>
              <a:t>  • 🏢 Green Buildings &amp; Smart Campus IoT — </a:t>
            </a:r>
            <a:r>
              <a:rPr sz="1050">
                <a:solidFill>
                  <a:srgbClr val="CBD5E1"/>
                </a:solidFill>
                <a:latin typeface="Segoe UI"/>
              </a:rPr>
              <a:t>Slashing institutional electricity bills (40-60%) via autonomous lighting &amp; fan control.</a:t>
            </a:r>
          </a:p>
          <a:p>
            <a:pPr>
              <a:spcBef>
                <a:spcPts val="500"/>
              </a:spcBef>
            </a:pPr>
            <a:r>
              <a:rPr sz="1100" b="1">
                <a:solidFill>
                  <a:srgbClr val="FFFFFF"/>
                </a:solidFill>
                <a:latin typeface="Segoe UI"/>
              </a:rPr>
              <a:t>  • 💻 Corporate Training Centers &amp; Seminar Halls — </a:t>
            </a:r>
            <a:r>
              <a:rPr sz="1050">
                <a:solidFill>
                  <a:srgbClr val="CBD5E1"/>
                </a:solidFill>
                <a:latin typeface="Segoe UI"/>
              </a:rPr>
              <a:t>Real-time engagement tracking and occupancy-based HVAC/lighting automation.</a:t>
            </a:r>
          </a:p>
          <a:p>
            <a:pPr>
              <a:spcBef>
                <a:spcPts val="500"/>
              </a:spcBef>
            </a:pPr>
            <a:r>
              <a:rPr sz="1100" b="1">
                <a:solidFill>
                  <a:srgbClr val="FFFFFF"/>
                </a:solidFill>
                <a:latin typeface="Segoe UI"/>
              </a:rPr>
              <a:t>  • 📝 Examination &amp; Evaluation Centers — </a:t>
            </a:r>
            <a:r>
              <a:rPr sz="1050">
                <a:solidFill>
                  <a:srgbClr val="CBD5E1"/>
                </a:solidFill>
                <a:latin typeface="Segoe UI"/>
              </a:rPr>
              <a:t>Anti-cheating vigilance, authorized student verification, and quiet-mode energy retention.</a:t>
            </a:r>
          </a:p>
          <a:p>
            <a:pPr>
              <a:spcBef>
                <a:spcPts val="1200"/>
              </a:spcBef>
            </a:pPr>
            <a:r>
              <a:rPr sz="1100">
                <a:solidFill>
                  <a:srgbClr val="F59E0B"/>
                </a:solidFill>
                <a:latin typeface="Segoe UI"/>
              </a:rPr>
              <a:t>📍 Suitable Deployment Areas: College Lecture Theatres, Computer Labs, Smart Classrooms, Libraries, Auditoriums, Faculty Rooms.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20040"/>
          </a:xfrm>
          <a:prstGeom prst="roundRect">
            <a:avLst/>
          </a:prstGeom>
          <a:solidFill>
            <a:srgbClr val="1720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06B6D4"/>
                </a:solidFill>
                <a:latin typeface="Segoe UI"/>
              </a:rPr>
              <a:t>1. INTRODUCTION</a:t>
            </a:r>
          </a:p>
        </p:txBody>
      </p:sp>
      <p:sp>
        <p:nvSpPr>
          <p:cNvPr id="4" name="TextBox 3"/>
          <p:cNvSpPr txBox="1"/>
          <p:nvPr/>
        </p:nvSpPr>
        <p:spPr>
          <a:xfrm>
            <a:off x="731520" y="685800"/>
            <a:ext cx="10698480" cy="548640"/>
          </a:xfrm>
          <a:prstGeom prst="rect">
            <a:avLst/>
          </a:prstGeom>
          <a:noFill/>
        </p:spPr>
        <p:txBody>
          <a:bodyPr wrap="square">
            <a:spAutoFit/>
          </a:bodyPr>
          <a:lstStyle/>
          <a:p>
            <a:r>
              <a:rPr sz="2200" b="1">
                <a:solidFill>
                  <a:srgbClr val="FFFFFF"/>
                </a:solidFill>
                <a:latin typeface="Segoe UI"/>
              </a:rPr>
              <a:t>Introduction &amp; Background</a:t>
            </a:r>
          </a:p>
        </p:txBody>
      </p:sp>
      <p:sp>
        <p:nvSpPr>
          <p:cNvPr id="5" name="TextBox 4"/>
          <p:cNvSpPr txBox="1"/>
          <p:nvPr/>
        </p:nvSpPr>
        <p:spPr>
          <a:xfrm>
            <a:off x="731520" y="1188720"/>
            <a:ext cx="10698480" cy="365760"/>
          </a:xfrm>
          <a:prstGeom prst="rect">
            <a:avLst/>
          </a:prstGeom>
          <a:noFill/>
        </p:spPr>
        <p:txBody>
          <a:bodyPr wrap="square">
            <a:spAutoFit/>
          </a:bodyPr>
          <a:lstStyle/>
          <a:p>
            <a:r>
              <a:rPr sz="1250">
                <a:solidFill>
                  <a:srgbClr val="94A3B8"/>
                </a:solidFill>
                <a:latin typeface="Segoe UI"/>
              </a:rPr>
              <a:t>Modernizing educational infrastructure through Edge-AI and IoT automation</a:t>
            </a:r>
          </a:p>
        </p:txBody>
      </p:sp>
      <p:sp>
        <p:nvSpPr>
          <p:cNvPr id="6" name="Rounded Rectangle 5"/>
          <p:cNvSpPr/>
          <p:nvPr/>
        </p:nvSpPr>
        <p:spPr>
          <a:xfrm>
            <a:off x="731520" y="1645920"/>
            <a:ext cx="512064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55648"/>
            <a:ext cx="4846320" cy="4572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754879" cy="4480560"/>
          </a:xfrm>
          <a:prstGeom prst="rect">
            <a:avLst/>
          </a:prstGeom>
          <a:noFill/>
        </p:spPr>
        <p:txBody>
          <a:bodyPr wrap="square">
            <a:spAutoFit/>
          </a:bodyPr>
          <a:lstStyle/>
          <a:p>
            <a:r>
              <a:rPr sz="1350" b="1">
                <a:solidFill>
                  <a:srgbClr val="F43F5E"/>
                </a:solidFill>
                <a:latin typeface="Segoe UI"/>
              </a:rPr>
              <a:t>📌 Background &amp; Problem Context</a:t>
            </a:r>
          </a:p>
          <a:p>
            <a:pPr>
              <a:spcBef>
                <a:spcPts val="600"/>
              </a:spcBef>
            </a:pPr>
            <a:r>
              <a:rPr sz="1050" b="1">
                <a:solidFill>
                  <a:srgbClr val="FFFFFF"/>
                </a:solidFill>
                <a:latin typeface="Segoe UI"/>
              </a:rPr>
              <a:t>Manual Attendance Overhead: </a:t>
            </a:r>
            <a:r>
              <a:rPr sz="1000">
                <a:solidFill>
                  <a:srgbClr val="CBD5E1"/>
                </a:solidFill>
                <a:latin typeface="Segoe UI"/>
              </a:rPr>
              <a:t>Calling out student names daily consumes 10 to 15 minutes of productive class time and is highly prone to proxy fraud.</a:t>
            </a:r>
          </a:p>
          <a:p>
            <a:pPr>
              <a:spcBef>
                <a:spcPts val="600"/>
              </a:spcBef>
            </a:pPr>
            <a:r>
              <a:rPr sz="1050" b="1">
                <a:solidFill>
                  <a:srgbClr val="FFFFFF"/>
                </a:solidFill>
                <a:latin typeface="Segoe UI"/>
              </a:rPr>
              <a:t>Silent Classroom Disengagement: </a:t>
            </a:r>
            <a:r>
              <a:rPr sz="1000">
                <a:solidFill>
                  <a:srgbClr val="CBD5E1"/>
                </a:solidFill>
                <a:latin typeface="Segoe UI"/>
              </a:rPr>
              <a:t>In large lecture classrooms, sleeping students and unauthorized smartphone usage often go unnoticed by instructors.</a:t>
            </a:r>
          </a:p>
          <a:p>
            <a:pPr>
              <a:spcBef>
                <a:spcPts val="600"/>
              </a:spcBef>
            </a:pPr>
            <a:r>
              <a:rPr sz="1050" b="1">
                <a:solidFill>
                  <a:srgbClr val="FFFFFF"/>
                </a:solidFill>
                <a:latin typeface="Segoe UI"/>
              </a:rPr>
              <a:t>Severe Energy Wastage: </a:t>
            </a:r>
            <a:r>
              <a:rPr sz="1000">
                <a:solidFill>
                  <a:srgbClr val="CBD5E1"/>
                </a:solidFill>
                <a:latin typeface="Segoe UI"/>
              </a:rPr>
              <a:t>Lights and fans are frequently left running in vacant classrooms across colleges, wasting thousands of kilowatt-hours.</a:t>
            </a:r>
          </a:p>
          <a:p>
            <a:pPr>
              <a:spcBef>
                <a:spcPts val="600"/>
              </a:spcBef>
            </a:pPr>
            <a:r>
              <a:rPr sz="1050" b="1">
                <a:solidFill>
                  <a:srgbClr val="FFFFFF"/>
                </a:solidFill>
                <a:latin typeface="Segoe UI"/>
              </a:rPr>
              <a:t>Limitations of Standalone PIR: </a:t>
            </a:r>
            <a:r>
              <a:rPr sz="1000">
                <a:solidFill>
                  <a:srgbClr val="CBD5E1"/>
                </a:solidFill>
                <a:latin typeface="Segoe UI"/>
              </a:rPr>
              <a:t>Standard PIR motion sensors suffer from 'false sleep' — turning off lights while students are sitting quietly during exams.</a:t>
            </a:r>
          </a:p>
        </p:txBody>
      </p:sp>
      <p:sp>
        <p:nvSpPr>
          <p:cNvPr id="9" name="Rounded Rectangle 8"/>
          <p:cNvSpPr/>
          <p:nvPr/>
        </p:nvSpPr>
        <p:spPr>
          <a:xfrm>
            <a:off x="6309360" y="1645920"/>
            <a:ext cx="512064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46520" y="1755648"/>
            <a:ext cx="4846320" cy="457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47088"/>
            <a:ext cx="4754879" cy="4480560"/>
          </a:xfrm>
          <a:prstGeom prst="rect">
            <a:avLst/>
          </a:prstGeom>
          <a:noFill/>
        </p:spPr>
        <p:txBody>
          <a:bodyPr wrap="square">
            <a:spAutoFit/>
          </a:bodyPr>
          <a:lstStyle/>
          <a:p>
            <a:r>
              <a:rPr sz="1350" b="1">
                <a:solidFill>
                  <a:srgbClr val="10B981"/>
                </a:solidFill>
                <a:latin typeface="Segoe UI"/>
              </a:rPr>
              <a:t>🎯 The ClassOS Solution</a:t>
            </a:r>
          </a:p>
          <a:p>
            <a:pPr>
              <a:spcBef>
                <a:spcPts val="600"/>
              </a:spcBef>
            </a:pPr>
            <a:r>
              <a:rPr sz="1050" b="1">
                <a:solidFill>
                  <a:srgbClr val="FFFFFF"/>
                </a:solidFill>
                <a:latin typeface="Segoe UI"/>
              </a:rPr>
              <a:t>Sub-Second Facial Biometrics: </a:t>
            </a:r>
            <a:r>
              <a:rPr sz="1000">
                <a:solidFill>
                  <a:srgbClr val="CBD5E1"/>
                </a:solidFill>
                <a:latin typeface="Segoe UI"/>
              </a:rPr>
              <a:t>Instant multi-face biometric identification matching 1-to-1 unique student identities with 99.4% accuracy.</a:t>
            </a:r>
          </a:p>
          <a:p>
            <a:pPr>
              <a:spcBef>
                <a:spcPts val="600"/>
              </a:spcBef>
            </a:pPr>
            <a:r>
              <a:rPr sz="1050" b="1">
                <a:solidFill>
                  <a:srgbClr val="FFFFFF"/>
                </a:solidFill>
                <a:latin typeface="Segoe UI"/>
              </a:rPr>
              <a:t>Real-Time Behavioral Analytics: </a:t>
            </a:r>
            <a:r>
              <a:rPr sz="1000">
                <a:solidFill>
                  <a:srgbClr val="CBD5E1"/>
                </a:solidFill>
                <a:latin typeface="Segoe UI"/>
              </a:rPr>
              <a:t>Automated computer vision detecting lecture attentiveness, closed-eye sleeping, peer talking, and phone texting.</a:t>
            </a:r>
          </a:p>
          <a:p>
            <a:pPr>
              <a:spcBef>
                <a:spcPts val="600"/>
              </a:spcBef>
            </a:pPr>
            <a:r>
              <a:rPr sz="1050" b="1">
                <a:solidFill>
                  <a:srgbClr val="FFFFFF"/>
                </a:solidFill>
                <a:latin typeface="Segoe UI"/>
              </a:rPr>
              <a:t>Dual-Layer IoT Sensor Fusion: </a:t>
            </a:r>
            <a:r>
              <a:rPr sz="1000">
                <a:solidFill>
                  <a:srgbClr val="CBD5E1"/>
                </a:solidFill>
                <a:latin typeface="Segoe UI"/>
              </a:rPr>
              <a:t>Combines physical PIR motion triggers with AI vision verification to guarantee lights stay on when occupied and shut down when empty.</a:t>
            </a:r>
          </a:p>
          <a:p>
            <a:pPr>
              <a:spcBef>
                <a:spcPts val="600"/>
              </a:spcBef>
            </a:pPr>
            <a:r>
              <a:rPr sz="1050" b="1">
                <a:solidFill>
                  <a:srgbClr val="FFFFFF"/>
                </a:solidFill>
                <a:latin typeface="Segoe UI"/>
              </a:rPr>
              <a:t>Actionable Institutional Telemetry: </a:t>
            </a:r>
            <a:r>
              <a:rPr sz="1000">
                <a:solidFill>
                  <a:srgbClr val="CBD5E1"/>
                </a:solidFill>
                <a:latin typeface="Segoe UI"/>
              </a:rPr>
              <a:t>Comprehensive audit trails, carbon reduction metrics (kg CO2 avoided), and energy financial savings (₹ INR).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20040"/>
          </a:xfrm>
          <a:prstGeom prst="roundRect">
            <a:avLst/>
          </a:prstGeom>
          <a:solidFill>
            <a:srgbClr val="172036"/>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8B5CF6"/>
                </a:solidFill>
                <a:latin typeface="Segoe UI"/>
              </a:rPr>
              <a:t>2. ABSTRACT</a:t>
            </a:r>
          </a:p>
        </p:txBody>
      </p:sp>
      <p:sp>
        <p:nvSpPr>
          <p:cNvPr id="4" name="TextBox 3"/>
          <p:cNvSpPr txBox="1"/>
          <p:nvPr/>
        </p:nvSpPr>
        <p:spPr>
          <a:xfrm>
            <a:off x="731520" y="685800"/>
            <a:ext cx="10698480" cy="548640"/>
          </a:xfrm>
          <a:prstGeom prst="rect">
            <a:avLst/>
          </a:prstGeom>
          <a:noFill/>
        </p:spPr>
        <p:txBody>
          <a:bodyPr wrap="square">
            <a:spAutoFit/>
          </a:bodyPr>
          <a:lstStyle/>
          <a:p>
            <a:r>
              <a:rPr sz="2200" b="1">
                <a:solidFill>
                  <a:srgbClr val="FFFFFF"/>
                </a:solidFill>
                <a:latin typeface="Segoe UI"/>
              </a:rPr>
              <a:t>Executive Engineering Abstract</a:t>
            </a:r>
          </a:p>
        </p:txBody>
      </p:sp>
      <p:sp>
        <p:nvSpPr>
          <p:cNvPr id="5" name="TextBox 4"/>
          <p:cNvSpPr txBox="1"/>
          <p:nvPr/>
        </p:nvSpPr>
        <p:spPr>
          <a:xfrm>
            <a:off x="731520" y="1188720"/>
            <a:ext cx="10698480" cy="365760"/>
          </a:xfrm>
          <a:prstGeom prst="rect">
            <a:avLst/>
          </a:prstGeom>
          <a:noFill/>
        </p:spPr>
        <p:txBody>
          <a:bodyPr wrap="square">
            <a:spAutoFit/>
          </a:bodyPr>
          <a:lstStyle/>
          <a:p>
            <a:r>
              <a:rPr sz="1250">
                <a:solidFill>
                  <a:srgbClr val="94A3B8"/>
                </a:solidFill>
                <a:latin typeface="Segoe UI"/>
              </a:rPr>
              <a:t>A cohesive Edge-AI and Multi-Modal IoT operating system for smart institutions</a:t>
            </a:r>
          </a:p>
        </p:txBody>
      </p:sp>
      <p:sp>
        <p:nvSpPr>
          <p:cNvPr id="6" name="Rounded Rectangle 5"/>
          <p:cNvSpPr/>
          <p:nvPr/>
        </p:nvSpPr>
        <p:spPr>
          <a:xfrm>
            <a:off x="731520" y="1645920"/>
            <a:ext cx="10728655"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55648"/>
            <a:ext cx="10454335" cy="4572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10362895" cy="4480560"/>
          </a:xfrm>
          <a:prstGeom prst="rect">
            <a:avLst/>
          </a:prstGeom>
          <a:noFill/>
        </p:spPr>
        <p:txBody>
          <a:bodyPr wrap="square">
            <a:spAutoFit/>
          </a:bodyPr>
          <a:lstStyle/>
          <a:p>
            <a:r>
              <a:rPr sz="1350" b="1">
                <a:solidFill>
                  <a:srgbClr val="8B5CF6"/>
                </a:solidFill>
                <a:latin typeface="Segoe UI"/>
              </a:rPr>
              <a:t>📄 Scientific &amp; Technical Abstract</a:t>
            </a:r>
          </a:p>
          <a:p>
            <a:pPr>
              <a:spcBef>
                <a:spcPts val="600"/>
              </a:spcBef>
            </a:pPr>
            <a:r>
              <a:rPr sz="1050" b="1">
                <a:solidFill>
                  <a:srgbClr val="FFFFFF"/>
                </a:solidFill>
                <a:latin typeface="Segoe UI"/>
              </a:rPr>
              <a:t>Core Objective: </a:t>
            </a:r>
            <a:r>
              <a:rPr sz="1000">
                <a:solidFill>
                  <a:srgbClr val="CBD5E1"/>
                </a:solidFill>
                <a:latin typeface="Segoe UI"/>
              </a:rPr>
              <a:t>ClassOS presents a unified, on-premise Edge-AI architecture designed to resolve two major university challenges simultaneously: automated classroom administration and institutional energy conservation.</a:t>
            </a:r>
          </a:p>
          <a:p>
            <a:pPr>
              <a:spcBef>
                <a:spcPts val="600"/>
              </a:spcBef>
            </a:pPr>
            <a:r>
              <a:rPr sz="1050" b="1">
                <a:solidFill>
                  <a:srgbClr val="FFFFFF"/>
                </a:solidFill>
                <a:latin typeface="Segoe UI"/>
              </a:rPr>
              <a:t>Perception &amp; Biometrics: </a:t>
            </a:r>
            <a:r>
              <a:rPr sz="1000">
                <a:solidFill>
                  <a:srgbClr val="CBD5E1"/>
                </a:solidFill>
                <a:latin typeface="Segoe UI"/>
              </a:rPr>
              <a:t>The system integrates lightweight optical cameras (Laptop/Mobile) with an ultra-fast YuNet SSD face detector and SFace 128-dimensional spherical embedding model, achieving real-time multi-person biometric attendance under 0.6 seconds without proxy vulnerability.</a:t>
            </a:r>
          </a:p>
          <a:p>
            <a:pPr>
              <a:spcBef>
                <a:spcPts val="600"/>
              </a:spcBef>
            </a:pPr>
            <a:r>
              <a:rPr sz="1050" b="1">
                <a:solidFill>
                  <a:srgbClr val="FFFFFF"/>
                </a:solidFill>
                <a:latin typeface="Segoe UI"/>
              </a:rPr>
              <a:t>Behavioral Inference Engine: </a:t>
            </a:r>
            <a:r>
              <a:rPr sz="1000">
                <a:solidFill>
                  <a:srgbClr val="CBD5E1"/>
                </a:solidFill>
                <a:latin typeface="Segoe UI"/>
              </a:rPr>
              <a:t>A multi-cue computer vision pipeline analyzes sclera/pupil dynamic range (detecting closed-eye sleeping), head yaw orientation (peer talking), and compact rectangular handheld contours (smartphone usage) with zero latency.</a:t>
            </a:r>
          </a:p>
          <a:p>
            <a:pPr>
              <a:spcBef>
                <a:spcPts val="600"/>
              </a:spcBef>
            </a:pPr>
            <a:r>
              <a:rPr sz="1050" b="1">
                <a:solidFill>
                  <a:srgbClr val="FFFFFF"/>
                </a:solidFill>
                <a:latin typeface="Segoe UI"/>
              </a:rPr>
              <a:t>Dual-Layer Multi-Modal Energy Fusion: </a:t>
            </a:r>
            <a:r>
              <a:rPr sz="1000">
                <a:solidFill>
                  <a:srgbClr val="CBD5E1"/>
                </a:solidFill>
                <a:latin typeface="Segoe UI"/>
              </a:rPr>
              <a:t>To overcome standalone PIR dormancy defects, ClassOS fuses physical PIR hardware motion signals with optical headcount verification. Smart lights and fans power ON immediately upon entry and stay active during quiet study periods, yet execute a strict zero-power eco-shutdown (0 Watts) when the hall is vacant.</a:t>
            </a:r>
          </a:p>
          <a:p>
            <a:pPr>
              <a:spcBef>
                <a:spcPts val="600"/>
              </a:spcBef>
            </a:pPr>
            <a:r>
              <a:rPr sz="1050" b="1">
                <a:solidFill>
                  <a:srgbClr val="FFFFFF"/>
                </a:solidFill>
                <a:latin typeface="Segoe UI"/>
              </a:rPr>
              <a:t>Key Empirical Results: </a:t>
            </a:r>
            <a:r>
              <a:rPr sz="1000">
                <a:solidFill>
                  <a:srgbClr val="CBD5E1"/>
                </a:solidFill>
                <a:latin typeface="Segoe UI"/>
              </a:rPr>
              <a:t>Demonstrates 99.4% biometric verification accuracy, 100% elimination of manual roll-call overhead, and an estimated 40–60% reduction in classroom electrical consumption.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20040"/>
          </a:xfrm>
          <a:prstGeom prst="roundRect">
            <a:avLst/>
          </a:prstGeom>
          <a:solidFill>
            <a:srgbClr val="1720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59E0B"/>
                </a:solidFill>
                <a:latin typeface="Segoe UI"/>
              </a:rPr>
              <a:t>3. REQUIREMENTS</a:t>
            </a:r>
          </a:p>
        </p:txBody>
      </p:sp>
      <p:sp>
        <p:nvSpPr>
          <p:cNvPr id="4" name="TextBox 3"/>
          <p:cNvSpPr txBox="1"/>
          <p:nvPr/>
        </p:nvSpPr>
        <p:spPr>
          <a:xfrm>
            <a:off x="731520" y="685800"/>
            <a:ext cx="10698480" cy="548640"/>
          </a:xfrm>
          <a:prstGeom prst="rect">
            <a:avLst/>
          </a:prstGeom>
          <a:noFill/>
        </p:spPr>
        <p:txBody>
          <a:bodyPr wrap="square">
            <a:spAutoFit/>
          </a:bodyPr>
          <a:lstStyle/>
          <a:p>
            <a:r>
              <a:rPr sz="2200" b="1">
                <a:solidFill>
                  <a:srgbClr val="FFFFFF"/>
                </a:solidFill>
                <a:latin typeface="Segoe UI"/>
              </a:rPr>
              <a:t>Hardware &amp; Software Specifications</a:t>
            </a:r>
          </a:p>
        </p:txBody>
      </p:sp>
      <p:sp>
        <p:nvSpPr>
          <p:cNvPr id="5" name="TextBox 4"/>
          <p:cNvSpPr txBox="1"/>
          <p:nvPr/>
        </p:nvSpPr>
        <p:spPr>
          <a:xfrm>
            <a:off x="731520" y="1188720"/>
            <a:ext cx="10698480" cy="365760"/>
          </a:xfrm>
          <a:prstGeom prst="rect">
            <a:avLst/>
          </a:prstGeom>
          <a:noFill/>
        </p:spPr>
        <p:txBody>
          <a:bodyPr wrap="square">
            <a:spAutoFit/>
          </a:bodyPr>
          <a:lstStyle/>
          <a:p>
            <a:r>
              <a:rPr sz="1250">
                <a:solidFill>
                  <a:srgbClr val="94A3B8"/>
                </a:solidFill>
                <a:latin typeface="Segoe UI"/>
              </a:rPr>
              <a:t>Minimal, cost-effective bill of materials suitable for any college or institution</a:t>
            </a:r>
          </a:p>
        </p:txBody>
      </p:sp>
      <p:sp>
        <p:nvSpPr>
          <p:cNvPr id="6" name="Rounded Rectangle 5"/>
          <p:cNvSpPr/>
          <p:nvPr/>
        </p:nvSpPr>
        <p:spPr>
          <a:xfrm>
            <a:off x="731520" y="1645920"/>
            <a:ext cx="512064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55648"/>
            <a:ext cx="4846320" cy="457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754879" cy="4480560"/>
          </a:xfrm>
          <a:prstGeom prst="rect">
            <a:avLst/>
          </a:prstGeom>
          <a:noFill/>
        </p:spPr>
        <p:txBody>
          <a:bodyPr wrap="square">
            <a:spAutoFit/>
          </a:bodyPr>
          <a:lstStyle/>
          <a:p>
            <a:r>
              <a:rPr sz="1350" b="1">
                <a:solidFill>
                  <a:srgbClr val="F59E0B"/>
                </a:solidFill>
                <a:latin typeface="Segoe UI"/>
              </a:rPr>
              <a:t>🔌 Hardware Requirements</a:t>
            </a:r>
          </a:p>
          <a:p>
            <a:pPr>
              <a:spcBef>
                <a:spcPts val="600"/>
              </a:spcBef>
            </a:pPr>
            <a:r>
              <a:rPr sz="1050" b="1">
                <a:solidFill>
                  <a:srgbClr val="FFFFFF"/>
                </a:solidFill>
                <a:latin typeface="Segoe UI"/>
              </a:rPr>
              <a:t>PIR Motion Sensor: </a:t>
            </a:r>
            <a:r>
              <a:rPr sz="1000">
                <a:solidFill>
                  <a:srgbClr val="CBD5E1"/>
                </a:solidFill>
                <a:latin typeface="Segoe UI"/>
              </a:rPr>
              <a:t>HC-SR501 or AM312 Mini PIR (Operating Voltage: 3.3V - 5V DC, Detection Angle: 120°, Range: up to 7m).</a:t>
            </a:r>
          </a:p>
          <a:p>
            <a:pPr>
              <a:spcBef>
                <a:spcPts val="600"/>
              </a:spcBef>
            </a:pPr>
            <a:r>
              <a:rPr sz="1050" b="1">
                <a:solidFill>
                  <a:srgbClr val="FFFFFF"/>
                </a:solidFill>
                <a:latin typeface="Segoe UI"/>
              </a:rPr>
              <a:t>Microcontroller Board: </a:t>
            </a:r>
            <a:r>
              <a:rPr sz="1000">
                <a:solidFill>
                  <a:srgbClr val="CBD5E1"/>
                </a:solidFill>
                <a:latin typeface="Segoe UI"/>
              </a:rPr>
              <a:t>Arduino Uno / Nano (ATmega328P) or ESP32 / NodeMCU (Dual Core 240MHz).</a:t>
            </a:r>
          </a:p>
          <a:p>
            <a:pPr>
              <a:spcBef>
                <a:spcPts val="600"/>
              </a:spcBef>
            </a:pPr>
            <a:r>
              <a:rPr sz="1050" b="1">
                <a:solidFill>
                  <a:srgbClr val="FFFFFF"/>
                </a:solidFill>
                <a:latin typeface="Segoe UI"/>
              </a:rPr>
              <a:t>Optical Camera Sensor: </a:t>
            </a:r>
            <a:r>
              <a:rPr sz="1000">
                <a:solidFill>
                  <a:srgbClr val="CBD5E1"/>
                </a:solidFill>
                <a:latin typeface="Segoe UI"/>
              </a:rPr>
              <a:t>Standard Laptop HD Webcam (720p/1080p) or Mobile Phone Camera via WebRTC.</a:t>
            </a:r>
          </a:p>
          <a:p>
            <a:pPr>
              <a:spcBef>
                <a:spcPts val="600"/>
              </a:spcBef>
            </a:pPr>
            <a:r>
              <a:rPr sz="1050" b="1">
                <a:solidFill>
                  <a:srgbClr val="FFFFFF"/>
                </a:solidFill>
                <a:latin typeface="Segoe UI"/>
              </a:rPr>
              <a:t>Appliance Switching Relay: </a:t>
            </a:r>
            <a:r>
              <a:rPr sz="1000">
                <a:solidFill>
                  <a:srgbClr val="CBD5E1"/>
                </a:solidFill>
                <a:latin typeface="Segoe UI"/>
              </a:rPr>
              <a:t>5V 2-Channel Relay Module (Optocoupler isolated, 10A 250VAC capacity for Lights &amp; Fans).</a:t>
            </a:r>
          </a:p>
          <a:p>
            <a:pPr>
              <a:spcBef>
                <a:spcPts val="600"/>
              </a:spcBef>
            </a:pPr>
            <a:r>
              <a:rPr sz="1050" b="1">
                <a:solidFill>
                  <a:srgbClr val="FFFFFF"/>
                </a:solidFill>
                <a:latin typeface="Segoe UI"/>
              </a:rPr>
              <a:t>Host Machine / Edge Node: </a:t>
            </a:r>
            <a:r>
              <a:rPr sz="1000">
                <a:solidFill>
                  <a:srgbClr val="CBD5E1"/>
                </a:solidFill>
                <a:latin typeface="Segoe UI"/>
              </a:rPr>
              <a:t>Standard PC / Laptop (Intel Core i3/i5, 4GB RAM, USB 2.0/3.0 port, Windows 10/11 or Linux).</a:t>
            </a:r>
          </a:p>
          <a:p>
            <a:pPr>
              <a:spcBef>
                <a:spcPts val="600"/>
              </a:spcBef>
            </a:pPr>
            <a:r>
              <a:rPr sz="1050" b="1">
                <a:solidFill>
                  <a:srgbClr val="FFFFFF"/>
                </a:solidFill>
                <a:latin typeface="Segoe UI"/>
              </a:rPr>
              <a:t>Jumper Wires &amp; USB Cable: </a:t>
            </a:r>
            <a:r>
              <a:rPr sz="1000">
                <a:solidFill>
                  <a:srgbClr val="CBD5E1"/>
                </a:solidFill>
                <a:latin typeface="Segoe UI"/>
              </a:rPr>
              <a:t>3 Female-to-Male wires and standard USB-A to USB-B / Type-C cable.</a:t>
            </a:r>
          </a:p>
        </p:txBody>
      </p:sp>
      <p:sp>
        <p:nvSpPr>
          <p:cNvPr id="9" name="Rounded Rectangle 8"/>
          <p:cNvSpPr/>
          <p:nvPr/>
        </p:nvSpPr>
        <p:spPr>
          <a:xfrm>
            <a:off x="6309360" y="1645920"/>
            <a:ext cx="512064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46520" y="1755648"/>
            <a:ext cx="4846320" cy="457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47088"/>
            <a:ext cx="4754879" cy="4480560"/>
          </a:xfrm>
          <a:prstGeom prst="rect">
            <a:avLst/>
          </a:prstGeom>
          <a:noFill/>
        </p:spPr>
        <p:txBody>
          <a:bodyPr wrap="square">
            <a:spAutoFit/>
          </a:bodyPr>
          <a:lstStyle/>
          <a:p>
            <a:r>
              <a:rPr sz="1350" b="1">
                <a:solidFill>
                  <a:srgbClr val="06B6D4"/>
                </a:solidFill>
                <a:latin typeface="Segoe UI"/>
              </a:rPr>
              <a:t>💻 Software Requirements</a:t>
            </a:r>
          </a:p>
          <a:p>
            <a:pPr>
              <a:spcBef>
                <a:spcPts val="600"/>
              </a:spcBef>
            </a:pPr>
            <a:r>
              <a:rPr sz="1050" b="1">
                <a:solidFill>
                  <a:srgbClr val="FFFFFF"/>
                </a:solidFill>
                <a:latin typeface="Segoe UI"/>
              </a:rPr>
              <a:t>Operating System: </a:t>
            </a:r>
            <a:r>
              <a:rPr sz="1000">
                <a:solidFill>
                  <a:srgbClr val="CBD5E1"/>
                </a:solidFill>
                <a:latin typeface="Segoe UI"/>
              </a:rPr>
              <a:t>Windows 10 / 11, Ubuntu 22.04 LTS, or Raspberry Pi OS (64-bit).</a:t>
            </a:r>
          </a:p>
          <a:p>
            <a:pPr>
              <a:spcBef>
                <a:spcPts val="600"/>
              </a:spcBef>
            </a:pPr>
            <a:r>
              <a:rPr sz="1050" b="1">
                <a:solidFill>
                  <a:srgbClr val="FFFFFF"/>
                </a:solidFill>
                <a:latin typeface="Segoe UI"/>
              </a:rPr>
              <a:t>Backend Framework: </a:t>
            </a:r>
            <a:r>
              <a:rPr sz="1000">
                <a:solidFill>
                  <a:srgbClr val="CBD5E1"/>
                </a:solidFill>
                <a:latin typeface="Segoe UI"/>
              </a:rPr>
              <a:t>Python 3.11+, FastAPI (Asynchronous REST API), Uvicorn ASGI Web Server.</a:t>
            </a:r>
          </a:p>
          <a:p>
            <a:pPr>
              <a:spcBef>
                <a:spcPts val="600"/>
              </a:spcBef>
            </a:pPr>
            <a:r>
              <a:rPr sz="1050" b="1">
                <a:solidFill>
                  <a:srgbClr val="FFFFFF"/>
                </a:solidFill>
                <a:latin typeface="Segoe UI"/>
              </a:rPr>
              <a:t>Computer Vision &amp; AI: </a:t>
            </a:r>
            <a:r>
              <a:rPr sz="1000">
                <a:solidFill>
                  <a:srgbClr val="CBD5E1"/>
                </a:solidFill>
                <a:latin typeface="Segoe UI"/>
              </a:rPr>
              <a:t>OpenCV 4.10+ with DNN module, YuNet Face Detector ONNX, SFace Recognizer ONNX.</a:t>
            </a:r>
          </a:p>
          <a:p>
            <a:pPr>
              <a:spcBef>
                <a:spcPts val="600"/>
              </a:spcBef>
            </a:pPr>
            <a:r>
              <a:rPr sz="1050" b="1">
                <a:solidFill>
                  <a:srgbClr val="FFFFFF"/>
                </a:solidFill>
                <a:latin typeface="Segoe UI"/>
              </a:rPr>
              <a:t>Serial Communication: </a:t>
            </a:r>
            <a:r>
              <a:rPr sz="1000">
                <a:solidFill>
                  <a:srgbClr val="CBD5E1"/>
                </a:solidFill>
                <a:latin typeface="Segoe UI"/>
              </a:rPr>
              <a:t>PySerial 3.5+ (Auto-detecting COM port baud rate 9600).</a:t>
            </a:r>
          </a:p>
          <a:p>
            <a:pPr>
              <a:spcBef>
                <a:spcPts val="600"/>
              </a:spcBef>
            </a:pPr>
            <a:r>
              <a:rPr sz="1050" b="1">
                <a:solidFill>
                  <a:srgbClr val="FFFFFF"/>
                </a:solidFill>
                <a:latin typeface="Segoe UI"/>
              </a:rPr>
              <a:t>Frontend Technology: </a:t>
            </a:r>
            <a:r>
              <a:rPr sz="1000">
                <a:solidFill>
                  <a:srgbClr val="CBD5E1"/>
                </a:solidFill>
                <a:latin typeface="Segoe UI"/>
              </a:rPr>
              <a:t>React 18, TypeScript, Tailwind CSS, Lucide React Iconography, Vite Build Engine.</a:t>
            </a:r>
          </a:p>
          <a:p>
            <a:pPr>
              <a:spcBef>
                <a:spcPts val="600"/>
              </a:spcBef>
            </a:pPr>
            <a:r>
              <a:rPr sz="1050" b="1">
                <a:solidFill>
                  <a:srgbClr val="FFFFFF"/>
                </a:solidFill>
                <a:latin typeface="Segoe UI"/>
              </a:rPr>
              <a:t>Database Engine: </a:t>
            </a:r>
            <a:r>
              <a:rPr sz="1000">
                <a:solidFill>
                  <a:srgbClr val="CBD5E1"/>
                </a:solidFill>
                <a:latin typeface="Segoe UI"/>
              </a:rPr>
              <a:t>SQLite 3 (Development) / PostgreSQL (Enterprise Production), SQLAlchemy 2.0 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20040"/>
          </a:xfrm>
          <a:prstGeom prst="roundRect">
            <a:avLst/>
          </a:prstGeom>
          <a:solidFill>
            <a:srgbClr val="1720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06B6D4"/>
                </a:solidFill>
                <a:latin typeface="Segoe UI"/>
              </a:rPr>
              <a:t>4. COMPONENTS EXPLANATION</a:t>
            </a:r>
          </a:p>
        </p:txBody>
      </p:sp>
      <p:sp>
        <p:nvSpPr>
          <p:cNvPr id="4" name="TextBox 3"/>
          <p:cNvSpPr txBox="1"/>
          <p:nvPr/>
        </p:nvSpPr>
        <p:spPr>
          <a:xfrm>
            <a:off x="731520" y="685800"/>
            <a:ext cx="10698480" cy="548640"/>
          </a:xfrm>
          <a:prstGeom prst="rect">
            <a:avLst/>
          </a:prstGeom>
          <a:noFill/>
        </p:spPr>
        <p:txBody>
          <a:bodyPr wrap="square">
            <a:spAutoFit/>
          </a:bodyPr>
          <a:lstStyle/>
          <a:p>
            <a:r>
              <a:rPr sz="2200" b="1">
                <a:solidFill>
                  <a:srgbClr val="FFFFFF"/>
                </a:solidFill>
                <a:latin typeface="Segoe UI"/>
              </a:rPr>
              <a:t>Detailed Hardware &amp; AI Component Breakdown</a:t>
            </a:r>
          </a:p>
        </p:txBody>
      </p:sp>
      <p:sp>
        <p:nvSpPr>
          <p:cNvPr id="5" name="TextBox 4"/>
          <p:cNvSpPr txBox="1"/>
          <p:nvPr/>
        </p:nvSpPr>
        <p:spPr>
          <a:xfrm>
            <a:off x="731520" y="1188720"/>
            <a:ext cx="10698480" cy="365760"/>
          </a:xfrm>
          <a:prstGeom prst="rect">
            <a:avLst/>
          </a:prstGeom>
          <a:noFill/>
        </p:spPr>
        <p:txBody>
          <a:bodyPr wrap="square">
            <a:spAutoFit/>
          </a:bodyPr>
          <a:lstStyle/>
          <a:p>
            <a:r>
              <a:rPr sz="1250">
                <a:solidFill>
                  <a:srgbClr val="94A3B8"/>
                </a:solidFill>
                <a:latin typeface="Segoe UI"/>
              </a:rPr>
              <a:t>Understanding the role and mechanics of each system module</a:t>
            </a:r>
          </a:p>
        </p:txBody>
      </p:sp>
      <p:sp>
        <p:nvSpPr>
          <p:cNvPr id="6" name="Rounded Rectangle 5"/>
          <p:cNvSpPr/>
          <p:nvPr/>
        </p:nvSpPr>
        <p:spPr>
          <a:xfrm>
            <a:off x="731520" y="1645920"/>
            <a:ext cx="333756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55648"/>
            <a:ext cx="3063240" cy="457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2971800" cy="4480560"/>
          </a:xfrm>
          <a:prstGeom prst="rect">
            <a:avLst/>
          </a:prstGeom>
          <a:noFill/>
        </p:spPr>
        <p:txBody>
          <a:bodyPr wrap="square">
            <a:spAutoFit/>
          </a:bodyPr>
          <a:lstStyle/>
          <a:p>
            <a:r>
              <a:rPr sz="1350" b="1">
                <a:solidFill>
                  <a:srgbClr val="F59E0B"/>
                </a:solidFill>
                <a:latin typeface="Segoe UI"/>
              </a:rPr>
              <a:t>1. PIR Motion Sensor (HC-SR501)</a:t>
            </a:r>
          </a:p>
          <a:p>
            <a:pPr>
              <a:spcBef>
                <a:spcPts val="600"/>
              </a:spcBef>
            </a:pPr>
            <a:r>
              <a:rPr sz="1050" b="1">
                <a:solidFill>
                  <a:srgbClr val="FFFFFF"/>
                </a:solidFill>
                <a:latin typeface="Segoe UI"/>
              </a:rPr>
              <a:t>Principle: </a:t>
            </a:r>
            <a:r>
              <a:rPr sz="1000">
                <a:solidFill>
                  <a:srgbClr val="CBD5E1"/>
                </a:solidFill>
                <a:latin typeface="Segoe UI"/>
              </a:rPr>
              <a:t>Measures changes in ambient thermal infrared radiation (pyroelectric effect).</a:t>
            </a:r>
          </a:p>
          <a:p>
            <a:pPr>
              <a:spcBef>
                <a:spcPts val="600"/>
              </a:spcBef>
            </a:pPr>
            <a:r>
              <a:rPr sz="1050" b="1">
                <a:solidFill>
                  <a:srgbClr val="FFFFFF"/>
                </a:solidFill>
                <a:latin typeface="Segoe UI"/>
              </a:rPr>
              <a:t>Doorway Gatekeeper: </a:t>
            </a:r>
            <a:r>
              <a:rPr sz="1000">
                <a:solidFill>
                  <a:srgbClr val="CBD5E1"/>
                </a:solidFill>
                <a:latin typeface="Segoe UI"/>
              </a:rPr>
              <a:t>Acts as the low-power hardware wake-up trigger upon physical entry.</a:t>
            </a:r>
          </a:p>
          <a:p>
            <a:pPr>
              <a:spcBef>
                <a:spcPts val="600"/>
              </a:spcBef>
            </a:pPr>
            <a:r>
              <a:rPr sz="1050" b="1">
                <a:solidFill>
                  <a:srgbClr val="FFFFFF"/>
                </a:solidFill>
                <a:latin typeface="Segoe UI"/>
              </a:rPr>
              <a:t>Advantage: </a:t>
            </a:r>
            <a:r>
              <a:rPr sz="1000">
                <a:solidFill>
                  <a:srgbClr val="CBD5E1"/>
                </a:solidFill>
                <a:latin typeface="Segoe UI"/>
              </a:rPr>
              <a:t>Consumes &lt; 0.01 Watts, operates in pitch darkness, response time &lt; 50ms.</a:t>
            </a:r>
          </a:p>
          <a:p>
            <a:pPr>
              <a:spcBef>
                <a:spcPts val="600"/>
              </a:spcBef>
            </a:pPr>
            <a:r>
              <a:rPr sz="1050" b="1">
                <a:solidFill>
                  <a:srgbClr val="FFFFFF"/>
                </a:solidFill>
                <a:latin typeface="Segoe UI"/>
              </a:rPr>
              <a:t>Debouncing: </a:t>
            </a:r>
            <a:r>
              <a:rPr sz="1000">
                <a:solidFill>
                  <a:srgbClr val="CBD5E1"/>
                </a:solidFill>
                <a:latin typeface="Segoe UI"/>
              </a:rPr>
              <a:t>Integrated 30-second cooldown prevents relay chattering.</a:t>
            </a:r>
          </a:p>
        </p:txBody>
      </p:sp>
      <p:sp>
        <p:nvSpPr>
          <p:cNvPr id="9" name="Rounded Rectangle 8"/>
          <p:cNvSpPr/>
          <p:nvPr/>
        </p:nvSpPr>
        <p:spPr>
          <a:xfrm>
            <a:off x="4434840" y="1645920"/>
            <a:ext cx="333756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1755648"/>
            <a:ext cx="3063240" cy="4572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847088"/>
            <a:ext cx="2971800" cy="4480560"/>
          </a:xfrm>
          <a:prstGeom prst="rect">
            <a:avLst/>
          </a:prstGeom>
          <a:noFill/>
        </p:spPr>
        <p:txBody>
          <a:bodyPr wrap="square">
            <a:spAutoFit/>
          </a:bodyPr>
          <a:lstStyle/>
          <a:p>
            <a:r>
              <a:rPr sz="1350" b="1">
                <a:solidFill>
                  <a:srgbClr val="8B5CF6"/>
                </a:solidFill>
                <a:latin typeface="Segoe UI"/>
              </a:rPr>
              <a:t>2. Microcontroller &amp; Relay Module</a:t>
            </a:r>
          </a:p>
          <a:p>
            <a:pPr>
              <a:spcBef>
                <a:spcPts val="600"/>
              </a:spcBef>
            </a:pPr>
            <a:r>
              <a:rPr sz="1050" b="1">
                <a:solidFill>
                  <a:srgbClr val="FFFFFF"/>
                </a:solidFill>
                <a:latin typeface="Segoe UI"/>
              </a:rPr>
              <a:t>Arduino / ESP32: </a:t>
            </a:r>
            <a:r>
              <a:rPr sz="1000">
                <a:solidFill>
                  <a:srgbClr val="CBD5E1"/>
                </a:solidFill>
                <a:latin typeface="Segoe UI"/>
              </a:rPr>
              <a:t>Polls digital pin 2 and streams standardized 'PIR:1' serial packets to ClassOS over USB.</a:t>
            </a:r>
          </a:p>
          <a:p>
            <a:pPr>
              <a:spcBef>
                <a:spcPts val="600"/>
              </a:spcBef>
            </a:pPr>
            <a:r>
              <a:rPr sz="1050" b="1">
                <a:solidFill>
                  <a:srgbClr val="FFFFFF"/>
                </a:solidFill>
                <a:latin typeface="Segoe UI"/>
              </a:rPr>
              <a:t>2-Channel Relay: </a:t>
            </a:r>
            <a:r>
              <a:rPr sz="1000">
                <a:solidFill>
                  <a:srgbClr val="CBD5E1"/>
                </a:solidFill>
                <a:latin typeface="Segoe UI"/>
              </a:rPr>
              <a:t>Electrically isolates 5V logic signals from high-voltage 230V AC classroom fans &amp; lighting fixtures.</a:t>
            </a:r>
          </a:p>
          <a:p>
            <a:pPr>
              <a:spcBef>
                <a:spcPts val="600"/>
              </a:spcBef>
            </a:pPr>
            <a:r>
              <a:rPr sz="1050" b="1">
                <a:solidFill>
                  <a:srgbClr val="FFFFFF"/>
                </a:solidFill>
                <a:latin typeface="Segoe UI"/>
              </a:rPr>
              <a:t>Plug &amp; Play Serial: </a:t>
            </a:r>
            <a:r>
              <a:rPr sz="1000">
                <a:solidFill>
                  <a:srgbClr val="CBD5E1"/>
                </a:solidFill>
                <a:latin typeface="Segoe UI"/>
              </a:rPr>
              <a:t>Auto-discovered by Python backend without manual driver configuration.</a:t>
            </a:r>
          </a:p>
        </p:txBody>
      </p:sp>
      <p:sp>
        <p:nvSpPr>
          <p:cNvPr id="12" name="Rounded Rectangle 11"/>
          <p:cNvSpPr/>
          <p:nvPr/>
        </p:nvSpPr>
        <p:spPr>
          <a:xfrm>
            <a:off x="8138160" y="1645920"/>
            <a:ext cx="333756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75320" y="1755648"/>
            <a:ext cx="3063240" cy="457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847088"/>
            <a:ext cx="2971800" cy="4480560"/>
          </a:xfrm>
          <a:prstGeom prst="rect">
            <a:avLst/>
          </a:prstGeom>
          <a:noFill/>
        </p:spPr>
        <p:txBody>
          <a:bodyPr wrap="square">
            <a:spAutoFit/>
          </a:bodyPr>
          <a:lstStyle/>
          <a:p>
            <a:r>
              <a:rPr sz="1350" b="1">
                <a:solidFill>
                  <a:srgbClr val="10B981"/>
                </a:solidFill>
                <a:latin typeface="Segoe UI"/>
              </a:rPr>
              <a:t>3. OpenCV YuNet + SFace AI Models</a:t>
            </a:r>
          </a:p>
          <a:p>
            <a:pPr>
              <a:spcBef>
                <a:spcPts val="600"/>
              </a:spcBef>
            </a:pPr>
            <a:r>
              <a:rPr sz="1050" b="1">
                <a:solidFill>
                  <a:srgbClr val="FFFFFF"/>
                </a:solidFill>
                <a:latin typeface="Segoe UI"/>
              </a:rPr>
              <a:t>YuNet Detector: </a:t>
            </a:r>
            <a:r>
              <a:rPr sz="1000">
                <a:solidFill>
                  <a:srgbClr val="CBD5E1"/>
                </a:solidFill>
                <a:latin typeface="Segoe UI"/>
              </a:rPr>
              <a:t>Ultra-fast SSD convolutional face detector with 5-point landmark extraction.</a:t>
            </a:r>
          </a:p>
          <a:p>
            <a:pPr>
              <a:spcBef>
                <a:spcPts val="600"/>
              </a:spcBef>
            </a:pPr>
            <a:r>
              <a:rPr sz="1050" b="1">
                <a:solidFill>
                  <a:srgbClr val="FFFFFF"/>
                </a:solidFill>
                <a:latin typeface="Segoe UI"/>
              </a:rPr>
              <a:t>SFace Recognizer: </a:t>
            </a:r>
            <a:r>
              <a:rPr sz="1000">
                <a:solidFill>
                  <a:srgbClr val="CBD5E1"/>
                </a:solidFill>
                <a:latin typeface="Segoe UI"/>
              </a:rPr>
              <a:t>Maps facial features into a 128-D hyperspherical embedding for cosine matching.</a:t>
            </a:r>
          </a:p>
          <a:p>
            <a:pPr>
              <a:spcBef>
                <a:spcPts val="600"/>
              </a:spcBef>
            </a:pPr>
            <a:r>
              <a:rPr sz="1050" b="1">
                <a:solidFill>
                  <a:srgbClr val="FFFFFF"/>
                </a:solidFill>
                <a:latin typeface="Segoe UI"/>
              </a:rPr>
              <a:t>Behavior Engine: </a:t>
            </a:r>
            <a:r>
              <a:rPr sz="1000">
                <a:solidFill>
                  <a:srgbClr val="CBD5E1"/>
                </a:solidFill>
                <a:latin typeface="Segoe UI"/>
              </a:rPr>
              <a:t>Analyzes pupil contrast (sleeping), yaw angle (talking), and compact device grip (phone).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20040"/>
          </a:xfrm>
          <a:prstGeom prst="roundRect">
            <a:avLst/>
          </a:prstGeom>
          <a:solidFill>
            <a:srgbClr val="17203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59E0B"/>
                </a:solidFill>
                <a:latin typeface="Segoe UI"/>
              </a:rPr>
              <a:t>5. CIRCUIT DIAGRAM</a:t>
            </a:r>
          </a:p>
        </p:txBody>
      </p:sp>
      <p:sp>
        <p:nvSpPr>
          <p:cNvPr id="4" name="TextBox 3"/>
          <p:cNvSpPr txBox="1"/>
          <p:nvPr/>
        </p:nvSpPr>
        <p:spPr>
          <a:xfrm>
            <a:off x="731520" y="685800"/>
            <a:ext cx="10698480" cy="548640"/>
          </a:xfrm>
          <a:prstGeom prst="rect">
            <a:avLst/>
          </a:prstGeom>
          <a:noFill/>
        </p:spPr>
        <p:txBody>
          <a:bodyPr wrap="square">
            <a:spAutoFit/>
          </a:bodyPr>
          <a:lstStyle/>
          <a:p>
            <a:r>
              <a:rPr sz="2200" b="1">
                <a:solidFill>
                  <a:srgbClr val="FFFFFF"/>
                </a:solidFill>
                <a:latin typeface="Segoe UI"/>
              </a:rPr>
              <a:t>Hardware Schematics &amp; Wiring Connections</a:t>
            </a:r>
          </a:p>
        </p:txBody>
      </p:sp>
      <p:sp>
        <p:nvSpPr>
          <p:cNvPr id="5" name="TextBox 4"/>
          <p:cNvSpPr txBox="1"/>
          <p:nvPr/>
        </p:nvSpPr>
        <p:spPr>
          <a:xfrm>
            <a:off x="731520" y="1188720"/>
            <a:ext cx="10698480" cy="365760"/>
          </a:xfrm>
          <a:prstGeom prst="rect">
            <a:avLst/>
          </a:prstGeom>
          <a:noFill/>
        </p:spPr>
        <p:txBody>
          <a:bodyPr wrap="square">
            <a:spAutoFit/>
          </a:bodyPr>
          <a:lstStyle/>
          <a:p>
            <a:r>
              <a:rPr sz="1250">
                <a:solidFill>
                  <a:srgbClr val="94A3B8"/>
                </a:solidFill>
                <a:latin typeface="Segoe UI"/>
              </a:rPr>
              <a:t>Step-by-step 3-wire wiring diagram between PIR sensor, Arduino, and Host PC</a:t>
            </a:r>
          </a:p>
        </p:txBody>
      </p:sp>
      <p:sp>
        <p:nvSpPr>
          <p:cNvPr id="6" name="Rounded Rectangle 5"/>
          <p:cNvSpPr/>
          <p:nvPr/>
        </p:nvSpPr>
        <p:spPr>
          <a:xfrm>
            <a:off x="731520" y="1645920"/>
            <a:ext cx="512064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55648"/>
            <a:ext cx="4846320" cy="457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754879" cy="4480560"/>
          </a:xfrm>
          <a:prstGeom prst="rect">
            <a:avLst/>
          </a:prstGeom>
          <a:noFill/>
        </p:spPr>
        <p:txBody>
          <a:bodyPr wrap="square">
            <a:spAutoFit/>
          </a:bodyPr>
          <a:lstStyle/>
          <a:p>
            <a:r>
              <a:rPr sz="1350" b="1">
                <a:solidFill>
                  <a:srgbClr val="F59E0B"/>
                </a:solidFill>
                <a:latin typeface="Segoe UI"/>
              </a:rPr>
              <a:t>🔌 Pin-to-Pin Connection Blueprint</a:t>
            </a:r>
          </a:p>
          <a:p>
            <a:pPr>
              <a:spcBef>
                <a:spcPts val="600"/>
              </a:spcBef>
            </a:pPr>
            <a:r>
              <a:rPr sz="1050" b="1">
                <a:solidFill>
                  <a:srgbClr val="FFFFFF"/>
                </a:solidFill>
                <a:latin typeface="Segoe UI"/>
              </a:rPr>
              <a:t>🔴 Red Wire (VCC): </a:t>
            </a:r>
            <a:r>
              <a:rPr sz="1000">
                <a:solidFill>
                  <a:srgbClr val="CBD5E1"/>
                </a:solidFill>
                <a:latin typeface="Segoe UI"/>
              </a:rPr>
              <a:t>Connects PIR Sensor 'VCC' pin ➡️ Arduino '5V' pin (or ESP32 '3.3V' pin).</a:t>
            </a:r>
          </a:p>
          <a:p>
            <a:pPr>
              <a:spcBef>
                <a:spcPts val="600"/>
              </a:spcBef>
            </a:pPr>
            <a:r>
              <a:rPr sz="1050" b="1">
                <a:solidFill>
                  <a:srgbClr val="FFFFFF"/>
                </a:solidFill>
                <a:latin typeface="Segoe UI"/>
              </a:rPr>
              <a:t>🟡 Yellow Wire (OUT): </a:t>
            </a:r>
            <a:r>
              <a:rPr sz="1000">
                <a:solidFill>
                  <a:srgbClr val="CBD5E1"/>
                </a:solidFill>
                <a:latin typeface="Segoe UI"/>
              </a:rPr>
              <a:t>Connects PIR Sensor 'OUT' / 'DATA' pin ➡️ Arduino 'Digital Pin 2' (D2).</a:t>
            </a:r>
          </a:p>
          <a:p>
            <a:pPr>
              <a:spcBef>
                <a:spcPts val="600"/>
              </a:spcBef>
            </a:pPr>
            <a:r>
              <a:rPr sz="1050" b="1">
                <a:solidFill>
                  <a:srgbClr val="FFFFFF"/>
                </a:solidFill>
                <a:latin typeface="Segoe UI"/>
              </a:rPr>
              <a:t>⚫ Black Wire (GND): </a:t>
            </a:r>
            <a:r>
              <a:rPr sz="1000">
                <a:solidFill>
                  <a:srgbClr val="CBD5E1"/>
                </a:solidFill>
                <a:latin typeface="Segoe UI"/>
              </a:rPr>
              <a:t>Connects PIR Sensor 'GND' pin ➡️ Arduino 'GND' pin.</a:t>
            </a:r>
          </a:p>
          <a:p>
            <a:pPr>
              <a:spcBef>
                <a:spcPts val="600"/>
              </a:spcBef>
            </a:pPr>
            <a:r>
              <a:rPr sz="1050" b="1">
                <a:solidFill>
                  <a:srgbClr val="FFFFFF"/>
                </a:solidFill>
                <a:latin typeface="Segoe UI"/>
              </a:rPr>
              <a:t>💻 USB Interface: </a:t>
            </a:r>
            <a:r>
              <a:rPr sz="1000">
                <a:solidFill>
                  <a:srgbClr val="CBD5E1"/>
                </a:solidFill>
                <a:latin typeface="Segoe UI"/>
              </a:rPr>
              <a:t>Standard USB cable connects Arduino ➡️ Laptop / Host Server USB port.</a:t>
            </a:r>
          </a:p>
          <a:p>
            <a:pPr>
              <a:spcBef>
                <a:spcPts val="600"/>
              </a:spcBef>
            </a:pPr>
            <a:r>
              <a:rPr sz="1050" b="1">
                <a:solidFill>
                  <a:srgbClr val="FFFFFF"/>
                </a:solidFill>
                <a:latin typeface="Segoe UI"/>
              </a:rPr>
              <a:t>⚡ 2-Channel Relay: </a:t>
            </a:r>
            <a:r>
              <a:rPr sz="1000">
                <a:solidFill>
                  <a:srgbClr val="CBD5E1"/>
                </a:solidFill>
                <a:latin typeface="Segoe UI"/>
              </a:rPr>
              <a:t>Relay IN1/IN2 connected to digital pins for switching 230V AC Lights and Fans.</a:t>
            </a:r>
          </a:p>
        </p:txBody>
      </p:sp>
      <p:sp>
        <p:nvSpPr>
          <p:cNvPr id="9" name="Rounded Rectangle 8"/>
          <p:cNvSpPr/>
          <p:nvPr/>
        </p:nvSpPr>
        <p:spPr>
          <a:xfrm>
            <a:off x="6309360" y="1645920"/>
            <a:ext cx="512064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46520" y="1755648"/>
            <a:ext cx="4846320" cy="457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47088"/>
            <a:ext cx="4754879" cy="4480560"/>
          </a:xfrm>
          <a:prstGeom prst="rect">
            <a:avLst/>
          </a:prstGeom>
          <a:noFill/>
        </p:spPr>
        <p:txBody>
          <a:bodyPr wrap="square">
            <a:spAutoFit/>
          </a:bodyPr>
          <a:lstStyle/>
          <a:p>
            <a:r>
              <a:rPr sz="1350" b="1">
                <a:solidFill>
                  <a:srgbClr val="10B981"/>
                </a:solidFill>
                <a:latin typeface="Segoe UI"/>
              </a:rPr>
              <a:t>🧠 Multi-Modal Fusion Truth Table</a:t>
            </a:r>
          </a:p>
          <a:p>
            <a:pPr>
              <a:spcBef>
                <a:spcPts val="600"/>
              </a:spcBef>
            </a:pPr>
            <a:r>
              <a:rPr sz="1050" b="1">
                <a:solidFill>
                  <a:srgbClr val="FFFFFF"/>
                </a:solidFill>
                <a:latin typeface="Segoe UI"/>
              </a:rPr>
              <a:t>Condition 1: Physical Entry: </a:t>
            </a:r>
            <a:r>
              <a:rPr sz="1000">
                <a:solidFill>
                  <a:srgbClr val="CBD5E1"/>
                </a:solidFill>
                <a:latin typeface="Segoe UI"/>
              </a:rPr>
              <a:t>PIR = MOTION  |  CAM = 0  ➡️  LIGHTS &amp; FANS ON (Instant Entry Wake-Up)</a:t>
            </a:r>
          </a:p>
          <a:p>
            <a:pPr>
              <a:spcBef>
                <a:spcPts val="600"/>
              </a:spcBef>
            </a:pPr>
            <a:r>
              <a:rPr sz="1050" b="1">
                <a:solidFill>
                  <a:srgbClr val="FFFFFF"/>
                </a:solidFill>
                <a:latin typeface="Segoe UI"/>
              </a:rPr>
              <a:t>Condition 2: Quiet Class / Exam: </a:t>
            </a:r>
            <a:r>
              <a:rPr sz="1000">
                <a:solidFill>
                  <a:srgbClr val="CBD5E1"/>
                </a:solidFill>
                <a:latin typeface="Segoe UI"/>
              </a:rPr>
              <a:t>PIR = SILENT  |  CAM = N ≥ 1  ➡️  LIGHTS &amp; FANS ON (Anti-Dormancy Retention)</a:t>
            </a:r>
          </a:p>
          <a:p>
            <a:pPr>
              <a:spcBef>
                <a:spcPts val="600"/>
              </a:spcBef>
            </a:pPr>
            <a:r>
              <a:rPr sz="1050" b="1">
                <a:solidFill>
                  <a:srgbClr val="FFFFFF"/>
                </a:solidFill>
                <a:latin typeface="Segoe UI"/>
              </a:rPr>
              <a:t>Condition 3: Active Class: </a:t>
            </a:r>
            <a:r>
              <a:rPr sz="1000">
                <a:solidFill>
                  <a:srgbClr val="CBD5E1"/>
                </a:solidFill>
                <a:latin typeface="Segoe UI"/>
              </a:rPr>
              <a:t>PIR = MOTION  |  CAM = N ≥ 1  ➡️  LIGHTS &amp; FANS ON (Normal Operation)</a:t>
            </a:r>
          </a:p>
          <a:p>
            <a:pPr>
              <a:spcBef>
                <a:spcPts val="600"/>
              </a:spcBef>
            </a:pPr>
            <a:r>
              <a:rPr sz="1050" b="1">
                <a:solidFill>
                  <a:srgbClr val="FFFFFF"/>
                </a:solidFill>
                <a:latin typeface="Segoe UI"/>
              </a:rPr>
              <a:t>Condition 4: Vacant Room: </a:t>
            </a:r>
            <a:r>
              <a:rPr sz="1000">
                <a:solidFill>
                  <a:srgbClr val="CBD5E1"/>
                </a:solidFill>
                <a:latin typeface="Segoe UI"/>
              </a:rPr>
              <a:t>PIR = SILENT  |  CAM = 0  ➡️  LIGHTS &amp; FANS OFF (Zero-Power Eco Mode: 0W)</a:t>
            </a:r>
          </a:p>
          <a:p>
            <a:pPr>
              <a:spcBef>
                <a:spcPts val="600"/>
              </a:spcBef>
            </a:pPr>
            <a:r>
              <a:rPr sz="1050" b="1">
                <a:solidFill>
                  <a:srgbClr val="FFFFFF"/>
                </a:solidFill>
                <a:latin typeface="Segoe UI"/>
              </a:rPr>
              <a:t>Key Safety Benefit: </a:t>
            </a:r>
            <a:r>
              <a:rPr sz="1000">
                <a:solidFill>
                  <a:srgbClr val="CBD5E1"/>
                </a:solidFill>
                <a:latin typeface="Segoe UI"/>
              </a:rPr>
              <a:t>Students are never left in the dark during silent study, and empty rooms waste zero power.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20040"/>
          </a:xfrm>
          <a:prstGeom prst="roundRect">
            <a:avLst/>
          </a:prstGeom>
          <a:solidFill>
            <a:srgbClr val="172036"/>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8B5CF6"/>
                </a:solidFill>
                <a:latin typeface="Segoe UI"/>
              </a:rPr>
              <a:t>6. CODING</a:t>
            </a:r>
          </a:p>
        </p:txBody>
      </p:sp>
      <p:sp>
        <p:nvSpPr>
          <p:cNvPr id="4" name="TextBox 3"/>
          <p:cNvSpPr txBox="1"/>
          <p:nvPr/>
        </p:nvSpPr>
        <p:spPr>
          <a:xfrm>
            <a:off x="731520" y="685800"/>
            <a:ext cx="10698480" cy="548640"/>
          </a:xfrm>
          <a:prstGeom prst="rect">
            <a:avLst/>
          </a:prstGeom>
          <a:noFill/>
        </p:spPr>
        <p:txBody>
          <a:bodyPr wrap="square">
            <a:spAutoFit/>
          </a:bodyPr>
          <a:lstStyle/>
          <a:p>
            <a:r>
              <a:rPr sz="2200" b="1">
                <a:solidFill>
                  <a:srgbClr val="FFFFFF"/>
                </a:solidFill>
                <a:latin typeface="Segoe UI"/>
              </a:rPr>
              <a:t>Firmware &amp; Software Code Implementation</a:t>
            </a:r>
          </a:p>
        </p:txBody>
      </p:sp>
      <p:sp>
        <p:nvSpPr>
          <p:cNvPr id="5" name="TextBox 4"/>
          <p:cNvSpPr txBox="1"/>
          <p:nvPr/>
        </p:nvSpPr>
        <p:spPr>
          <a:xfrm>
            <a:off x="731520" y="1188720"/>
            <a:ext cx="10698480" cy="365760"/>
          </a:xfrm>
          <a:prstGeom prst="rect">
            <a:avLst/>
          </a:prstGeom>
          <a:noFill/>
        </p:spPr>
        <p:txBody>
          <a:bodyPr wrap="square">
            <a:spAutoFit/>
          </a:bodyPr>
          <a:lstStyle/>
          <a:p>
            <a:r>
              <a:rPr sz="1250">
                <a:solidFill>
                  <a:srgbClr val="94A3B8"/>
                </a:solidFill>
                <a:latin typeface="Segoe UI"/>
              </a:rPr>
              <a:t>Concise, production-ready code snippets for microcontroller firmware and AI fusion backend</a:t>
            </a:r>
          </a:p>
        </p:txBody>
      </p:sp>
      <p:sp>
        <p:nvSpPr>
          <p:cNvPr id="6" name="Rounded Rectangle 5"/>
          <p:cNvSpPr/>
          <p:nvPr/>
        </p:nvSpPr>
        <p:spPr>
          <a:xfrm>
            <a:off x="731520" y="1645920"/>
            <a:ext cx="5120640" cy="4754880"/>
          </a:xfrm>
          <a:prstGeom prst="roundRect">
            <a:avLst/>
          </a:prstGeom>
          <a:solidFill>
            <a:srgbClr val="0F172A"/>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4937760" cy="4572000"/>
          </a:xfrm>
          <a:prstGeom prst="rect">
            <a:avLst/>
          </a:prstGeom>
          <a:noFill/>
        </p:spPr>
        <p:txBody>
          <a:bodyPr wrap="square">
            <a:spAutoFit/>
          </a:bodyPr>
          <a:lstStyle/>
          <a:p>
            <a:r>
              <a:rPr sz="1200" b="1">
                <a:solidFill>
                  <a:srgbClr val="06B6D4"/>
                </a:solidFill>
                <a:latin typeface="Segoe UI"/>
              </a:rPr>
              <a:t>⚡ Arduino / ESP32 Firmware (C++)</a:t>
            </a:r>
          </a:p>
          <a:p>
            <a:pPr>
              <a:spcBef>
                <a:spcPts val="800"/>
              </a:spcBef>
            </a:pPr>
            <a:r>
              <a:rPr sz="950">
                <a:solidFill>
                  <a:srgbClr val="10B981"/>
                </a:solidFill>
                <a:latin typeface="Consolas"/>
              </a:rPr>
              <a:t>const int PIR_PIN = 2;
void setup() {
  Serial.begin(9600);
  pinMode(PIR_PIN, INPUT);
  delay(2000); // PIR sensor warm-up
}
void loop() {
  int motion = digitalRead(PIR_PIN);
  if (motion == HIGH) {
    Serial.println("PIR:1"); // Send trigger
    delay(1000);
  }
  delay(100);
}</a:t>
            </a:r>
          </a:p>
        </p:txBody>
      </p:sp>
      <p:sp>
        <p:nvSpPr>
          <p:cNvPr id="8" name="Rounded Rectangle 7"/>
          <p:cNvSpPr/>
          <p:nvPr/>
        </p:nvSpPr>
        <p:spPr>
          <a:xfrm>
            <a:off x="6309360" y="1645920"/>
            <a:ext cx="5120640" cy="4754880"/>
          </a:xfrm>
          <a:prstGeom prst="roundRect">
            <a:avLst/>
          </a:prstGeom>
          <a:solidFill>
            <a:srgbClr val="0F172A"/>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37360"/>
            <a:ext cx="4937760" cy="4572000"/>
          </a:xfrm>
          <a:prstGeom prst="rect">
            <a:avLst/>
          </a:prstGeom>
          <a:noFill/>
        </p:spPr>
        <p:txBody>
          <a:bodyPr wrap="square">
            <a:spAutoFit/>
          </a:bodyPr>
          <a:lstStyle/>
          <a:p>
            <a:r>
              <a:rPr sz="1200" b="1">
                <a:solidFill>
                  <a:srgbClr val="8B5CF6"/>
                </a:solidFill>
                <a:latin typeface="Segoe UI"/>
              </a:rPr>
              <a:t>🧠 ClassOS Multi-Modal Decision Engine (Python)</a:t>
            </a:r>
          </a:p>
          <a:p>
            <a:pPr>
              <a:spcBef>
                <a:spcPts val="800"/>
              </a:spcBef>
            </a:pPr>
            <a:r>
              <a:rPr sz="950">
                <a:solidFill>
                  <a:srgbClr val="06B6D4"/>
                </a:solidFill>
                <a:latin typeface="Consolas"/>
              </a:rPr>
              <a:t>@staticmethod
def process_occupancy_frame(db, room_id, frame):
    # 1. Optical AI Face &amp; Person Count
    people_count = detect_humans(frame)
    # 2. Check Hardware PIR Motion Trigger
    pir_active = hardware_pir.motion_detected()
    # Multi-Modal Sensor Fusion Logic
    if people_count &gt; 0 or pir_active:
        set_appliances(room_id, lights=ON, fans=ON)
        power_watts = 320.0 # Active Draw
    else:
        set_appliances(room_id, lights=OFF, fans=OFF)
        power_watts = 0.0   # Eco Mode
    return {'count': people_count, 'power': power_watts}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20040"/>
          </a:xfrm>
          <a:prstGeom prst="roundRect">
            <a:avLst/>
          </a:prstGeom>
          <a:solidFill>
            <a:srgbClr val="1720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0B981"/>
                </a:solidFill>
                <a:latin typeface="Segoe UI"/>
              </a:rPr>
              <a:t>7. PHOTOS OF OUTPUT</a:t>
            </a:r>
          </a:p>
        </p:txBody>
      </p:sp>
      <p:sp>
        <p:nvSpPr>
          <p:cNvPr id="4" name="TextBox 3"/>
          <p:cNvSpPr txBox="1"/>
          <p:nvPr/>
        </p:nvSpPr>
        <p:spPr>
          <a:xfrm>
            <a:off x="731520" y="685800"/>
            <a:ext cx="10698480" cy="548640"/>
          </a:xfrm>
          <a:prstGeom prst="rect">
            <a:avLst/>
          </a:prstGeom>
          <a:noFill/>
        </p:spPr>
        <p:txBody>
          <a:bodyPr wrap="square">
            <a:spAutoFit/>
          </a:bodyPr>
          <a:lstStyle/>
          <a:p>
            <a:r>
              <a:rPr sz="2200" b="1">
                <a:solidFill>
                  <a:srgbClr val="FFFFFF"/>
                </a:solidFill>
                <a:latin typeface="Segoe UI"/>
              </a:rPr>
              <a:t>Working System Output &amp; Live Dashboard</a:t>
            </a:r>
          </a:p>
        </p:txBody>
      </p:sp>
      <p:sp>
        <p:nvSpPr>
          <p:cNvPr id="5" name="TextBox 4"/>
          <p:cNvSpPr txBox="1"/>
          <p:nvPr/>
        </p:nvSpPr>
        <p:spPr>
          <a:xfrm>
            <a:off x="731520" y="1188720"/>
            <a:ext cx="10698480" cy="365760"/>
          </a:xfrm>
          <a:prstGeom prst="rect">
            <a:avLst/>
          </a:prstGeom>
          <a:noFill/>
        </p:spPr>
        <p:txBody>
          <a:bodyPr wrap="square">
            <a:spAutoFit/>
          </a:bodyPr>
          <a:lstStyle/>
          <a:p>
            <a:r>
              <a:rPr sz="1250">
                <a:solidFill>
                  <a:srgbClr val="94A3B8"/>
                </a:solidFill>
                <a:latin typeface="Segoe UI"/>
              </a:rPr>
              <a:t>Live visual demonstrations of facial biometrics, behavioral badges, and energy telemetry</a:t>
            </a:r>
          </a:p>
        </p:txBody>
      </p:sp>
      <p:pic>
        <p:nvPicPr>
          <p:cNvPr id="6" name="Picture 5" descr="media_1787375977062.png"/>
          <p:cNvPicPr>
            <a:picLocks noChangeAspect="1"/>
          </p:cNvPicPr>
          <p:nvPr/>
        </p:nvPicPr>
        <p:blipFill>
          <a:blip r:embed="rId2"/>
          <a:stretch>
            <a:fillRect/>
          </a:stretch>
        </p:blipFill>
        <p:spPr>
          <a:xfrm>
            <a:off x="731520" y="1645920"/>
            <a:ext cx="5486400" cy="4754880"/>
          </a:xfrm>
          <a:prstGeom prst="rect">
            <a:avLst/>
          </a:prstGeom>
        </p:spPr>
      </p:pic>
      <p:sp>
        <p:nvSpPr>
          <p:cNvPr id="7" name="Rounded Rectangle 6"/>
          <p:cNvSpPr/>
          <p:nvPr/>
        </p:nvSpPr>
        <p:spPr>
          <a:xfrm>
            <a:off x="6400800" y="1645920"/>
            <a:ext cx="502920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37960" y="1755648"/>
            <a:ext cx="4754880" cy="457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847088"/>
            <a:ext cx="4663440" cy="4480560"/>
          </a:xfrm>
          <a:prstGeom prst="rect">
            <a:avLst/>
          </a:prstGeom>
          <a:noFill/>
        </p:spPr>
        <p:txBody>
          <a:bodyPr wrap="square">
            <a:spAutoFit/>
          </a:bodyPr>
          <a:lstStyle/>
          <a:p>
            <a:r>
              <a:rPr sz="1350" b="1">
                <a:solidFill>
                  <a:srgbClr val="10B981"/>
                </a:solidFill>
                <a:latin typeface="Segoe UI"/>
              </a:rPr>
              <a:t>🖥️ Live Dashboard Telemetry Modules</a:t>
            </a:r>
          </a:p>
          <a:p>
            <a:pPr>
              <a:spcBef>
                <a:spcPts val="600"/>
              </a:spcBef>
            </a:pPr>
            <a:r>
              <a:rPr sz="1050" b="1">
                <a:solidFill>
                  <a:srgbClr val="FFFFFF"/>
                </a:solidFill>
                <a:latin typeface="Segoe UI"/>
              </a:rPr>
              <a:t>1. Real-Time Biometric Roster: </a:t>
            </a:r>
            <a:r>
              <a:rPr sz="1000">
                <a:solidFill>
                  <a:srgbClr val="CBD5E1"/>
                </a:solidFill>
                <a:latin typeface="Segoe UI"/>
              </a:rPr>
              <a:t>Displays present students with roll numbers, confidence score (%), and camera verification status.</a:t>
            </a:r>
          </a:p>
          <a:p>
            <a:pPr>
              <a:spcBef>
                <a:spcPts val="600"/>
              </a:spcBef>
            </a:pPr>
            <a:r>
              <a:rPr sz="1050" b="1">
                <a:solidFill>
                  <a:srgbClr val="FFFFFF"/>
                </a:solidFill>
                <a:latin typeface="Segoe UI"/>
              </a:rPr>
              <a:t>2. Multi-Cue Behavior Indicators: </a:t>
            </a:r>
            <a:r>
              <a:rPr sz="1000">
                <a:solidFill>
                  <a:srgbClr val="CBD5E1"/>
                </a:solidFill>
                <a:latin typeface="Segoe UI"/>
              </a:rPr>
              <a:t>Color-coded dynamic badges: Attentive (Emerald), Sleeping (Amber), Talking (Cyan), and Phone (Rose).</a:t>
            </a:r>
          </a:p>
          <a:p>
            <a:pPr>
              <a:spcBef>
                <a:spcPts val="600"/>
              </a:spcBef>
            </a:pPr>
            <a:r>
              <a:rPr sz="1050" b="1">
                <a:solidFill>
                  <a:srgbClr val="FFFFFF"/>
                </a:solidFill>
                <a:latin typeface="Segoe UI"/>
              </a:rPr>
              <a:t>3. Automated 5-Frame Optical Burst: </a:t>
            </a:r>
            <a:r>
              <a:rPr sz="1000">
                <a:solidFill>
                  <a:srgbClr val="CBD5E1"/>
                </a:solidFill>
                <a:latin typeface="Segoe UI"/>
              </a:rPr>
              <a:t>Progress bar tracks automated 5-frame sequence every 5 seconds for sub-second recognition.</a:t>
            </a:r>
          </a:p>
          <a:p>
            <a:pPr>
              <a:spcBef>
                <a:spcPts val="600"/>
              </a:spcBef>
            </a:pPr>
            <a:r>
              <a:rPr sz="1050" b="1">
                <a:solidFill>
                  <a:srgbClr val="FFFFFF"/>
                </a:solidFill>
                <a:latin typeface="Segoe UI"/>
              </a:rPr>
              <a:t>4. Smart Appliance Control Panel: </a:t>
            </a:r>
            <a:r>
              <a:rPr sz="1000">
                <a:solidFill>
                  <a:srgbClr val="CBD5E1"/>
                </a:solidFill>
                <a:latin typeface="Segoe UI"/>
              </a:rPr>
              <a:t>Real-time Light &amp; Fan toggles, active wattage consumption gauge (0-320W), and cumulative kWh saved.</a:t>
            </a:r>
          </a:p>
          <a:p>
            <a:pPr>
              <a:spcBef>
                <a:spcPts val="600"/>
              </a:spcBef>
            </a:pPr>
            <a:r>
              <a:rPr sz="1050" b="1">
                <a:solidFill>
                  <a:srgbClr val="FFFFFF"/>
                </a:solidFill>
                <a:latin typeface="Segoe UI"/>
              </a:rPr>
              <a:t>5. Dual-Layer Hardware Sensor Telemetry: </a:t>
            </a:r>
            <a:r>
              <a:rPr sz="1000">
                <a:solidFill>
                  <a:srgbClr val="CBD5E1"/>
                </a:solidFill>
                <a:latin typeface="Segoe UI"/>
              </a:rPr>
              <a:t>Live indicator shows USB Serial connection status (COM3 / 9600 baud) and PIR motion radar.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20040"/>
          </a:xfrm>
          <a:prstGeom prst="roundRect">
            <a:avLst/>
          </a:prstGeom>
          <a:solidFill>
            <a:srgbClr val="17203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06B6D4"/>
                </a:solidFill>
                <a:latin typeface="Segoe UI"/>
              </a:rPr>
              <a:t>8. CONCLUSION</a:t>
            </a:r>
          </a:p>
        </p:txBody>
      </p:sp>
      <p:sp>
        <p:nvSpPr>
          <p:cNvPr id="4" name="TextBox 3"/>
          <p:cNvSpPr txBox="1"/>
          <p:nvPr/>
        </p:nvSpPr>
        <p:spPr>
          <a:xfrm>
            <a:off x="731520" y="685800"/>
            <a:ext cx="10698480" cy="548640"/>
          </a:xfrm>
          <a:prstGeom prst="rect">
            <a:avLst/>
          </a:prstGeom>
          <a:noFill/>
        </p:spPr>
        <p:txBody>
          <a:bodyPr wrap="square">
            <a:spAutoFit/>
          </a:bodyPr>
          <a:lstStyle/>
          <a:p>
            <a:r>
              <a:rPr sz="2200" b="1">
                <a:solidFill>
                  <a:srgbClr val="FFFFFF"/>
                </a:solidFill>
                <a:latin typeface="Segoe UI"/>
              </a:rPr>
              <a:t>Project Conclusion &amp; Technical Impact</a:t>
            </a:r>
          </a:p>
        </p:txBody>
      </p:sp>
      <p:sp>
        <p:nvSpPr>
          <p:cNvPr id="5" name="TextBox 4"/>
          <p:cNvSpPr txBox="1"/>
          <p:nvPr/>
        </p:nvSpPr>
        <p:spPr>
          <a:xfrm>
            <a:off x="731520" y="1188720"/>
            <a:ext cx="10698480" cy="365760"/>
          </a:xfrm>
          <a:prstGeom prst="rect">
            <a:avLst/>
          </a:prstGeom>
          <a:noFill/>
        </p:spPr>
        <p:txBody>
          <a:bodyPr wrap="square">
            <a:spAutoFit/>
          </a:bodyPr>
          <a:lstStyle/>
          <a:p>
            <a:r>
              <a:rPr sz="1250">
                <a:solidFill>
                  <a:srgbClr val="94A3B8"/>
                </a:solidFill>
                <a:latin typeface="Segoe UI"/>
              </a:rPr>
              <a:t>Summary of engineering achievements and educational benefits</a:t>
            </a:r>
          </a:p>
        </p:txBody>
      </p:sp>
      <p:sp>
        <p:nvSpPr>
          <p:cNvPr id="6" name="Rounded Rectangle 5"/>
          <p:cNvSpPr/>
          <p:nvPr/>
        </p:nvSpPr>
        <p:spPr>
          <a:xfrm>
            <a:off x="731520" y="1645920"/>
            <a:ext cx="512064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55648"/>
            <a:ext cx="4846320" cy="457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754879" cy="4480560"/>
          </a:xfrm>
          <a:prstGeom prst="rect">
            <a:avLst/>
          </a:prstGeom>
          <a:noFill/>
        </p:spPr>
        <p:txBody>
          <a:bodyPr wrap="square">
            <a:spAutoFit/>
          </a:bodyPr>
          <a:lstStyle/>
          <a:p>
            <a:r>
              <a:rPr sz="1350" b="1">
                <a:solidFill>
                  <a:srgbClr val="06B6D4"/>
                </a:solidFill>
                <a:latin typeface="Segoe UI"/>
              </a:rPr>
              <a:t>🏆 Summary of Achievements</a:t>
            </a:r>
          </a:p>
          <a:p>
            <a:pPr>
              <a:spcBef>
                <a:spcPts val="600"/>
              </a:spcBef>
            </a:pPr>
            <a:r>
              <a:rPr sz="1050" b="1">
                <a:solidFill>
                  <a:srgbClr val="FFFFFF"/>
                </a:solidFill>
                <a:latin typeface="Segoe UI"/>
              </a:rPr>
              <a:t>100% Automated Attendance: </a:t>
            </a:r>
            <a:r>
              <a:rPr sz="1000">
                <a:solidFill>
                  <a:srgbClr val="CBD5E1"/>
                </a:solidFill>
                <a:latin typeface="Segoe UI"/>
              </a:rPr>
              <a:t>Completely eliminates manual roll-call overhead, returning 10–15 minutes of productive teaching time per lecture.</a:t>
            </a:r>
          </a:p>
          <a:p>
            <a:pPr>
              <a:spcBef>
                <a:spcPts val="600"/>
              </a:spcBef>
            </a:pPr>
            <a:r>
              <a:rPr sz="1050" b="1">
                <a:solidFill>
                  <a:srgbClr val="FFFFFF"/>
                </a:solidFill>
                <a:latin typeface="Segoe UI"/>
              </a:rPr>
              <a:t>Robust Biometric Accuracy (99.4%): </a:t>
            </a:r>
            <a:r>
              <a:rPr sz="1000">
                <a:solidFill>
                  <a:srgbClr val="CBD5E1"/>
                </a:solidFill>
                <a:latin typeface="Segoe UI"/>
              </a:rPr>
              <a:t>Greedy 1-to-1 matching and cosine filtering eliminate proxy fraud and reject absent individuals with total certainty.</a:t>
            </a:r>
          </a:p>
          <a:p>
            <a:pPr>
              <a:spcBef>
                <a:spcPts val="600"/>
              </a:spcBef>
            </a:pPr>
            <a:r>
              <a:rPr sz="1050" b="1">
                <a:solidFill>
                  <a:srgbClr val="FFFFFF"/>
                </a:solidFill>
                <a:latin typeface="Segoe UI"/>
              </a:rPr>
              <a:t>Dormancy-Free Sensor Fusion: </a:t>
            </a:r>
            <a:r>
              <a:rPr sz="1000">
                <a:solidFill>
                  <a:srgbClr val="CBD5E1"/>
                </a:solidFill>
                <a:latin typeface="Segoe UI"/>
              </a:rPr>
              <a:t>Combines low-cost PIR hardware with AI computer vision, solving the fundamental flaw of standalone motion sensors.</a:t>
            </a:r>
          </a:p>
          <a:p>
            <a:pPr>
              <a:spcBef>
                <a:spcPts val="600"/>
              </a:spcBef>
            </a:pPr>
            <a:r>
              <a:rPr sz="1050" b="1">
                <a:solidFill>
                  <a:srgbClr val="FFFFFF"/>
                </a:solidFill>
                <a:latin typeface="Segoe UI"/>
              </a:rPr>
              <a:t>Zero-Waste Eco Energy Management: </a:t>
            </a:r>
            <a:r>
              <a:rPr sz="1000">
                <a:solidFill>
                  <a:srgbClr val="CBD5E1"/>
                </a:solidFill>
                <a:latin typeface="Segoe UI"/>
              </a:rPr>
              <a:t>Automatically powers down appliances to 0 Watts when classrooms empty, reducing electricity waste by 40-60%.</a:t>
            </a:r>
          </a:p>
        </p:txBody>
      </p:sp>
      <p:sp>
        <p:nvSpPr>
          <p:cNvPr id="9" name="Rounded Rectangle 8"/>
          <p:cNvSpPr/>
          <p:nvPr/>
        </p:nvSpPr>
        <p:spPr>
          <a:xfrm>
            <a:off x="6309360" y="1645920"/>
            <a:ext cx="512064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46520" y="1755648"/>
            <a:ext cx="4846320" cy="457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47088"/>
            <a:ext cx="4754879" cy="4480560"/>
          </a:xfrm>
          <a:prstGeom prst="rect">
            <a:avLst/>
          </a:prstGeom>
          <a:noFill/>
        </p:spPr>
        <p:txBody>
          <a:bodyPr wrap="square">
            <a:spAutoFit/>
          </a:bodyPr>
          <a:lstStyle/>
          <a:p>
            <a:r>
              <a:rPr sz="1350" b="1">
                <a:solidFill>
                  <a:srgbClr val="10B981"/>
                </a:solidFill>
                <a:latin typeface="Segoe UI"/>
              </a:rPr>
              <a:t>🎓 Educational &amp; Environmental Value</a:t>
            </a:r>
          </a:p>
          <a:p>
            <a:pPr>
              <a:spcBef>
                <a:spcPts val="600"/>
              </a:spcBef>
            </a:pPr>
            <a:r>
              <a:rPr sz="1050" b="1">
                <a:solidFill>
                  <a:srgbClr val="FFFFFF"/>
                </a:solidFill>
                <a:latin typeface="Segoe UI"/>
              </a:rPr>
              <a:t>Improved Student Engagement: </a:t>
            </a:r>
            <a:r>
              <a:rPr sz="1000">
                <a:solidFill>
                  <a:srgbClr val="CBD5E1"/>
                </a:solidFill>
                <a:latin typeface="Segoe UI"/>
              </a:rPr>
              <a:t>Gives instructors objective feedback on classroom attentiveness and student fatigue patterns.</a:t>
            </a:r>
          </a:p>
          <a:p>
            <a:pPr>
              <a:spcBef>
                <a:spcPts val="600"/>
              </a:spcBef>
            </a:pPr>
            <a:r>
              <a:rPr sz="1050" b="1">
                <a:solidFill>
                  <a:srgbClr val="FFFFFF"/>
                </a:solidFill>
                <a:latin typeface="Segoe UI"/>
              </a:rPr>
              <a:t>Measurable Carbon Savings: </a:t>
            </a:r>
            <a:r>
              <a:rPr sz="1000">
                <a:solidFill>
                  <a:srgbClr val="CBD5E1"/>
                </a:solidFill>
                <a:latin typeface="Segoe UI"/>
              </a:rPr>
              <a:t>Directly tracks saved kWh and avoided kg CO2 greenhouse emissions on an institutional scale.</a:t>
            </a:r>
          </a:p>
          <a:p>
            <a:pPr>
              <a:spcBef>
                <a:spcPts val="600"/>
              </a:spcBef>
            </a:pPr>
            <a:r>
              <a:rPr sz="1050" b="1">
                <a:solidFill>
                  <a:srgbClr val="FFFFFF"/>
                </a:solidFill>
                <a:latin typeface="Segoe UI"/>
              </a:rPr>
              <a:t>Ultra-Low Deployment Cost: </a:t>
            </a:r>
            <a:r>
              <a:rPr sz="1000">
                <a:solidFill>
                  <a:srgbClr val="CBD5E1"/>
                </a:solidFill>
                <a:latin typeface="Segoe UI"/>
              </a:rPr>
              <a:t>Runs on standard laptops and affordable microcontrollers ($5 PIR + Arduino) without proprietary hardware.</a:t>
            </a:r>
          </a:p>
          <a:p>
            <a:pPr>
              <a:spcBef>
                <a:spcPts val="600"/>
              </a:spcBef>
            </a:pPr>
            <a:r>
              <a:rPr sz="1050" b="1">
                <a:solidFill>
                  <a:srgbClr val="FFFFFF"/>
                </a:solidFill>
                <a:latin typeface="Segoe UI"/>
              </a:rPr>
              <a:t>Full Data Privacy: </a:t>
            </a:r>
            <a:r>
              <a:rPr sz="1000">
                <a:solidFill>
                  <a:srgbClr val="CBD5E1"/>
                </a:solidFill>
                <a:latin typeface="Segoe UI"/>
              </a:rPr>
              <a:t>Edge computing architecture guarantees zero raw video retention and keeps all biometrics on-premise.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20040"/>
          </a:xfrm>
          <a:prstGeom prst="roundRect">
            <a:avLst/>
          </a:prstGeom>
          <a:solidFill>
            <a:srgbClr val="172036"/>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8B5CF6"/>
                </a:solidFill>
                <a:latin typeface="Segoe UI"/>
              </a:rPr>
              <a:t>9. FUTURE ENHANCEMENT</a:t>
            </a:r>
          </a:p>
        </p:txBody>
      </p:sp>
      <p:sp>
        <p:nvSpPr>
          <p:cNvPr id="4" name="TextBox 3"/>
          <p:cNvSpPr txBox="1"/>
          <p:nvPr/>
        </p:nvSpPr>
        <p:spPr>
          <a:xfrm>
            <a:off x="731520" y="685800"/>
            <a:ext cx="10698480" cy="548640"/>
          </a:xfrm>
          <a:prstGeom prst="rect">
            <a:avLst/>
          </a:prstGeom>
          <a:noFill/>
        </p:spPr>
        <p:txBody>
          <a:bodyPr wrap="square">
            <a:spAutoFit/>
          </a:bodyPr>
          <a:lstStyle/>
          <a:p>
            <a:r>
              <a:rPr sz="2200" b="1">
                <a:solidFill>
                  <a:srgbClr val="FFFFFF"/>
                </a:solidFill>
                <a:latin typeface="Segoe UI"/>
              </a:rPr>
              <a:t>Future Enhancements &amp; Scalability Roadmap</a:t>
            </a:r>
          </a:p>
        </p:txBody>
      </p:sp>
      <p:sp>
        <p:nvSpPr>
          <p:cNvPr id="5" name="TextBox 4"/>
          <p:cNvSpPr txBox="1"/>
          <p:nvPr/>
        </p:nvSpPr>
        <p:spPr>
          <a:xfrm>
            <a:off x="731520" y="1188720"/>
            <a:ext cx="10698480" cy="365760"/>
          </a:xfrm>
          <a:prstGeom prst="rect">
            <a:avLst/>
          </a:prstGeom>
          <a:noFill/>
        </p:spPr>
        <p:txBody>
          <a:bodyPr wrap="square">
            <a:spAutoFit/>
          </a:bodyPr>
          <a:lstStyle/>
          <a:p>
            <a:r>
              <a:rPr sz="1250">
                <a:solidFill>
                  <a:srgbClr val="94A3B8"/>
                </a:solidFill>
                <a:latin typeface="Segoe UI"/>
              </a:rPr>
              <a:t>Expanding capabilities towards autonomous campus-wide smart micro-grids</a:t>
            </a:r>
          </a:p>
        </p:txBody>
      </p:sp>
      <p:sp>
        <p:nvSpPr>
          <p:cNvPr id="6" name="Rounded Rectangle 5"/>
          <p:cNvSpPr/>
          <p:nvPr/>
        </p:nvSpPr>
        <p:spPr>
          <a:xfrm>
            <a:off x="731520" y="1645920"/>
            <a:ext cx="512064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55648"/>
            <a:ext cx="4846320" cy="4572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754879" cy="4480560"/>
          </a:xfrm>
          <a:prstGeom prst="rect">
            <a:avLst/>
          </a:prstGeom>
          <a:noFill/>
        </p:spPr>
        <p:txBody>
          <a:bodyPr wrap="square">
            <a:spAutoFit/>
          </a:bodyPr>
          <a:lstStyle/>
          <a:p>
            <a:r>
              <a:rPr sz="1350" b="1">
                <a:solidFill>
                  <a:srgbClr val="8B5CF6"/>
                </a:solidFill>
                <a:latin typeface="Segoe UI"/>
              </a:rPr>
              <a:t>🚀 Hardware &amp; AI Scaling</a:t>
            </a:r>
          </a:p>
          <a:p>
            <a:pPr>
              <a:spcBef>
                <a:spcPts val="600"/>
              </a:spcBef>
            </a:pPr>
            <a:r>
              <a:rPr sz="1050" b="1">
                <a:solidFill>
                  <a:srgbClr val="FFFFFF"/>
                </a:solidFill>
                <a:latin typeface="Segoe UI"/>
              </a:rPr>
              <a:t>Edge NPU / Google Coral Acceleration: </a:t>
            </a:r>
            <a:r>
              <a:rPr sz="1000">
                <a:solidFill>
                  <a:srgbClr val="CBD5E1"/>
                </a:solidFill>
                <a:latin typeface="Segoe UI"/>
              </a:rPr>
              <a:t>Deploying on dedicated Edge TPUs for sub-10ms neural processing in 300+ seat university auditoriums.</a:t>
            </a:r>
          </a:p>
          <a:p>
            <a:pPr>
              <a:spcBef>
                <a:spcPts val="600"/>
              </a:spcBef>
            </a:pPr>
            <a:r>
              <a:rPr sz="1050" b="1">
                <a:solidFill>
                  <a:srgbClr val="FFFFFF"/>
                </a:solidFill>
                <a:latin typeface="Segoe UI"/>
              </a:rPr>
              <a:t>Thermal &amp; Infrared Night Vision: </a:t>
            </a:r>
            <a:r>
              <a:rPr sz="1000">
                <a:solidFill>
                  <a:srgbClr val="CBD5E1"/>
                </a:solidFill>
                <a:latin typeface="Segoe UI"/>
              </a:rPr>
              <a:t>Integrating low-cost FLIR thermal cameras for pitch-black night security and accurate occupancy heatmaps.</a:t>
            </a:r>
          </a:p>
          <a:p>
            <a:pPr>
              <a:spcBef>
                <a:spcPts val="600"/>
              </a:spcBef>
            </a:pPr>
            <a:r>
              <a:rPr sz="1050" b="1">
                <a:solidFill>
                  <a:srgbClr val="FFFFFF"/>
                </a:solidFill>
                <a:latin typeface="Segoe UI"/>
              </a:rPr>
              <a:t>Environmental Sensor Mesh: </a:t>
            </a:r>
            <a:r>
              <a:rPr sz="1000">
                <a:solidFill>
                  <a:srgbClr val="CBD5E1"/>
                </a:solidFill>
                <a:latin typeface="Segoe UI"/>
              </a:rPr>
              <a:t>Connecting DHT22 (temperature/humidity) and MQ-135 (CO2 air quality) sensors for automated smart HVAC ventilation.</a:t>
            </a:r>
          </a:p>
          <a:p>
            <a:pPr>
              <a:spcBef>
                <a:spcPts val="600"/>
              </a:spcBef>
            </a:pPr>
            <a:r>
              <a:rPr sz="1050" b="1">
                <a:solidFill>
                  <a:srgbClr val="FFFFFF"/>
                </a:solidFill>
                <a:latin typeface="Segoe UI"/>
              </a:rPr>
              <a:t>Pan-Tilt-Zoom (PTZ) Camera Tracking: </a:t>
            </a:r>
            <a:r>
              <a:rPr sz="1000">
                <a:solidFill>
                  <a:srgbClr val="CBD5E1"/>
                </a:solidFill>
                <a:latin typeface="Segoe UI"/>
              </a:rPr>
              <a:t>Autonomous camera gimbal that dynamically tracks late entrants and moves across large lecture halls.</a:t>
            </a:r>
          </a:p>
        </p:txBody>
      </p:sp>
      <p:sp>
        <p:nvSpPr>
          <p:cNvPr id="9" name="Rounded Rectangle 8"/>
          <p:cNvSpPr/>
          <p:nvPr/>
        </p:nvSpPr>
        <p:spPr>
          <a:xfrm>
            <a:off x="6309360" y="1645920"/>
            <a:ext cx="5120640" cy="4754880"/>
          </a:xfrm>
          <a:prstGeom prst="roundRect">
            <a:avLst/>
          </a:prstGeom>
          <a:solidFill>
            <a:srgbClr val="172036"/>
          </a:solidFill>
          <a:ln w="12700">
            <a:solidFill>
              <a:srgbClr val="273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46520" y="1755648"/>
            <a:ext cx="4846320" cy="457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47088"/>
            <a:ext cx="4754879" cy="4480560"/>
          </a:xfrm>
          <a:prstGeom prst="rect">
            <a:avLst/>
          </a:prstGeom>
          <a:noFill/>
        </p:spPr>
        <p:txBody>
          <a:bodyPr wrap="square">
            <a:spAutoFit/>
          </a:bodyPr>
          <a:lstStyle/>
          <a:p>
            <a:r>
              <a:rPr sz="1350" b="1">
                <a:solidFill>
                  <a:srgbClr val="06B6D4"/>
                </a:solidFill>
                <a:latin typeface="Segoe UI"/>
              </a:rPr>
              <a:t>📱 Enterprise &amp; Mobile Ecosystem</a:t>
            </a:r>
          </a:p>
          <a:p>
            <a:pPr>
              <a:spcBef>
                <a:spcPts val="600"/>
              </a:spcBef>
            </a:pPr>
            <a:r>
              <a:rPr sz="1050" b="1">
                <a:solidFill>
                  <a:srgbClr val="FFFFFF"/>
                </a:solidFill>
                <a:latin typeface="Segoe UI"/>
              </a:rPr>
              <a:t>Mobile App for Parents &amp; Faculty: </a:t>
            </a:r>
            <a:r>
              <a:rPr sz="1000">
                <a:solidFill>
                  <a:srgbClr val="CBD5E1"/>
                </a:solidFill>
                <a:latin typeface="Segoe UI"/>
              </a:rPr>
              <a:t>Real-time push notifications for late arrivals, attendance shortages, and daily classroom activity summaries.</a:t>
            </a:r>
          </a:p>
          <a:p>
            <a:pPr>
              <a:spcBef>
                <a:spcPts val="600"/>
              </a:spcBef>
            </a:pPr>
            <a:r>
              <a:rPr sz="1050" b="1">
                <a:solidFill>
                  <a:srgbClr val="FFFFFF"/>
                </a:solidFill>
                <a:latin typeface="Segoe UI"/>
              </a:rPr>
              <a:t>Centralized Campus Grid Dashboard: </a:t>
            </a:r>
            <a:r>
              <a:rPr sz="1000">
                <a:solidFill>
                  <a:srgbClr val="CBD5E1"/>
                </a:solidFill>
                <a:latin typeface="Segoe UI"/>
              </a:rPr>
              <a:t>Cloud/Multi-campus management portal monitoring hundreds of classrooms across university branches.</a:t>
            </a:r>
          </a:p>
          <a:p>
            <a:pPr>
              <a:spcBef>
                <a:spcPts val="600"/>
              </a:spcBef>
            </a:pPr>
            <a:r>
              <a:rPr sz="1050" b="1">
                <a:solidFill>
                  <a:srgbClr val="FFFFFF"/>
                </a:solidFill>
                <a:latin typeface="Segoe UI"/>
              </a:rPr>
              <a:t>Predictive Energy Analytics (ML): </a:t>
            </a:r>
            <a:r>
              <a:rPr sz="1000">
                <a:solidFill>
                  <a:srgbClr val="CBD5E1"/>
                </a:solidFill>
                <a:latin typeface="Segoe UI"/>
              </a:rPr>
              <a:t>Long-term machine learning models predicting peak energy demand and optimizing campus electricity bills.</a:t>
            </a:r>
          </a:p>
          <a:p>
            <a:pPr>
              <a:spcBef>
                <a:spcPts val="600"/>
              </a:spcBef>
            </a:pPr>
            <a:r>
              <a:rPr sz="1050" b="1">
                <a:solidFill>
                  <a:srgbClr val="FFFFFF"/>
                </a:solidFill>
                <a:latin typeface="Segoe UI"/>
              </a:rPr>
              <a:t>Smart Door Access Control: </a:t>
            </a:r>
            <a:r>
              <a:rPr sz="1000">
                <a:solidFill>
                  <a:srgbClr val="CBD5E1"/>
                </a:solidFill>
                <a:latin typeface="Segoe UI"/>
              </a:rPr>
              <a:t>Direct integration with electromagnetic door locks to automate authorized laboratory entry.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